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  <p:sldId id="279" r:id="rId3"/>
    <p:sldId id="280" r:id="rId4"/>
    <p:sldId id="281" r:id="rId5"/>
    <p:sldId id="269" r:id="rId6"/>
    <p:sldId id="268" r:id="rId7"/>
    <p:sldId id="274" r:id="rId8"/>
    <p:sldId id="266" r:id="rId9"/>
    <p:sldId id="262" r:id="rId10"/>
    <p:sldId id="276" r:id="rId11"/>
    <p:sldId id="275" r:id="rId12"/>
    <p:sldId id="263" r:id="rId13"/>
    <p:sldId id="259" r:id="rId14"/>
    <p:sldId id="26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. 진입점" id="{8ADA4296-82F6-AF4C-9E40-4C33F6F98E25}">
          <p14:sldIdLst>
            <p14:sldId id="278"/>
            <p14:sldId id="279"/>
            <p14:sldId id="280"/>
            <p14:sldId id="281"/>
          </p14:sldIdLst>
        </p14:section>
        <p14:section name="1. 전체계좌조회" id="{6ABB09B8-9A41-ED48-B1DF-9080ACCF0FB0}">
          <p14:sldIdLst>
            <p14:sldId id="269"/>
            <p14:sldId id="268"/>
            <p14:sldId id="274"/>
            <p14:sldId id="266"/>
          </p14:sldIdLst>
        </p14:section>
        <p14:section name="2. 거래내역조회" id="{D0DA63CC-E6FF-0942-A25B-A262A71BF1D7}">
          <p14:sldIdLst>
            <p14:sldId id="262"/>
          </p14:sldIdLst>
        </p14:section>
        <p14:section name="3. 이체결과조회" id="{EBF7C95D-AB3F-6F48-8EBA-0BAF968556AC}">
          <p14:sldIdLst>
            <p14:sldId id="276"/>
            <p14:sldId id="275"/>
            <p14:sldId id="263"/>
            <p14:sldId id="259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68"/>
    <p:restoredTop sz="94681"/>
  </p:normalViewPr>
  <p:slideViewPr>
    <p:cSldViewPr snapToGrid="0">
      <p:cViewPr>
        <p:scale>
          <a:sx n="109" d="100"/>
          <a:sy n="109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2DDA6E-B58C-F3D0-F999-944B17364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BF4AA6-6420-6DF8-92E0-6C8B1C811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E231E8-3486-8918-F1CC-C7A01EE8A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F4497-40BC-9642-A42B-FFEBCE61EE38}" type="datetimeFigureOut">
              <a:rPr kumimoji="1" lang="ko-KR" altLang="en-US" smtClean="0"/>
              <a:t>2026. 8. 6.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954DE0-4019-6B14-B1C8-5C42D998B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E53557-BCA1-1F2B-04BC-47EE3030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FF7C-92DF-D242-BA6A-BB93A2DF12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3374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D426A-E38D-3CBB-BE8A-7C25AF2E5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11C217-9774-EF86-A808-ACDE2B372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EB0F8A-738D-020A-41FF-F684EC95D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F4497-40BC-9642-A42B-FFEBCE61EE38}" type="datetimeFigureOut">
              <a:rPr kumimoji="1" lang="ko-KR" altLang="en-US" smtClean="0"/>
              <a:t>2026. 8. 6.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282150-869F-80F4-CA3C-48EED7273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B814DD-DB1E-1AAE-DEBA-435C932D0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FF7C-92DF-D242-BA6A-BB93A2DF12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1308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D0914-9024-F964-C1AF-D445627A5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AE94C5-EE1B-B12B-4F4B-327CC0355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FEE078-6B53-412B-64EF-20068807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F4497-40BC-9642-A42B-FFEBCE61EE38}" type="datetimeFigureOut">
              <a:rPr kumimoji="1" lang="ko-KR" altLang="en-US" smtClean="0"/>
              <a:t>2026. 8. 6.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E5A63D-A3EF-B2DD-69F2-A6D9F94C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E87352-6F84-6227-6A53-332260487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FF7C-92DF-D242-BA6A-BB93A2DF12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9922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6F992-6AFB-7CB4-2CCF-70BD5AF8D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F659E7-BCDD-8C94-D2C6-C5ED73F90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91869E-D1AF-E42C-6846-79599EF3B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919C99-1CF3-1507-3974-9E199DCF8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F4497-40BC-9642-A42B-FFEBCE61EE38}" type="datetimeFigureOut">
              <a:rPr kumimoji="1" lang="ko-KR" altLang="en-US" smtClean="0"/>
              <a:t>2026. 8. 6.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438081-8AA0-F648-7976-B80ED66E6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7DBAB9-E8E3-908E-D853-472F652D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FF7C-92DF-D242-BA6A-BB93A2DF12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9643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8ACE5-146C-54AC-9488-2927D25DA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1E4DCA-B51B-796C-5BF7-0A1FB7612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16DF9E-C3B0-E4A2-7BA5-090DB8D1D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54EEC7-DB12-99E5-CC16-93E038337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799C48-86AE-1939-0387-E789711747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003943-7537-D0D4-0DAD-3480729C6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F4497-40BC-9642-A42B-FFEBCE61EE38}" type="datetimeFigureOut">
              <a:rPr kumimoji="1" lang="ko-KR" altLang="en-US" smtClean="0"/>
              <a:t>2026. 8. 6.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BA7C15-4ABF-6A4A-FECD-303364828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E6D5E7-DE8A-5953-3E12-096C53527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FF7C-92DF-D242-BA6A-BB93A2DF12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8138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EE5CE-D2DA-405A-9A29-C8E2AD351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A0349CB-18E6-9939-EE08-FE72D428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F4497-40BC-9642-A42B-FFEBCE61EE38}" type="datetimeFigureOut">
              <a:rPr kumimoji="1" lang="ko-KR" altLang="en-US" smtClean="0"/>
              <a:t>2026. 8. 6.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34814F-70F1-C42F-8093-A7D9EF701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C2BD48-9AE2-489E-CDD5-7A9FB5F1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FF7C-92DF-D242-BA6A-BB93A2DF12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2691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B9A0B34-9EE9-93D0-B4A6-7D897284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F4497-40BC-9642-A42B-FFEBCE61EE38}" type="datetimeFigureOut">
              <a:rPr kumimoji="1" lang="ko-KR" altLang="en-US" smtClean="0"/>
              <a:t>2026. 8. 6.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01E642E-1B44-8CE9-B2E1-98F6072C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217258-C410-7CCD-E18A-F59044C6C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FF7C-92DF-D242-BA6A-BB93A2DF12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8513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38888E-4420-D5C1-2E16-7CF787B9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48857E-5AEC-BF72-B90B-B88775E74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1EE331-9EDB-800D-FC4A-514A2E011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97D579-F411-EB3F-6F65-6084AA963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F4497-40BC-9642-A42B-FFEBCE61EE38}" type="datetimeFigureOut">
              <a:rPr kumimoji="1" lang="ko-KR" altLang="en-US" smtClean="0"/>
              <a:t>2026. 8. 6.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108BE2-B8CF-1B66-E4B6-842C5B71B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B1A490-0E8B-091C-B128-D0AC5939B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FF7C-92DF-D242-BA6A-BB93A2DF12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1551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8ABC1-5AA6-2211-A235-7D09D9DE8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3AF625C-9A16-8A7C-A3CB-AB5B6F14D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1B6213-02F0-050C-6056-6EA50F6D0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9C1ABB-42E2-62F5-0600-F3BBC578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F4497-40BC-9642-A42B-FFEBCE61EE38}" type="datetimeFigureOut">
              <a:rPr kumimoji="1" lang="ko-KR" altLang="en-US" smtClean="0"/>
              <a:t>2026. 8. 6.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4804ED-D3BF-D280-7735-649A634C3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AA29B3-DA9C-58D8-89DF-32B146B8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FF7C-92DF-D242-BA6A-BB93A2DF12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310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68B24-96A1-64F1-E2DA-F77F1EF1D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CE0F33-2432-5587-4631-A7344D2DD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E2AC9-9CFB-3FD8-BB54-C962FEA4F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F4497-40BC-9642-A42B-FFEBCE61EE38}" type="datetimeFigureOut">
              <a:rPr kumimoji="1" lang="ko-KR" altLang="en-US" smtClean="0"/>
              <a:t>2026. 8. 6.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5FFE24-4185-4E79-A622-FC0C16698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2B570E-A529-66CD-8565-6B8662777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FF7C-92DF-D242-BA6A-BB93A2DF12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44269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36896B-317D-57F8-E041-34976F0D0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12AEEC-E217-3F38-0840-F84311D5C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6D5409-6F33-B4DE-399E-88FB9CB4C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F4497-40BC-9642-A42B-FFEBCE61EE38}" type="datetimeFigureOut">
              <a:rPr kumimoji="1" lang="ko-KR" altLang="en-US" smtClean="0"/>
              <a:t>2026. 8. 6.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F64B05-F26F-0812-7F05-DA11DC0E8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FBB383-D0E9-C720-D2AA-6A4731CE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FF7C-92DF-D242-BA6A-BB93A2DF12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4665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1DD8C8-BD22-0D31-841F-FE4B094D1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B3E9FC-4886-70B1-78B3-6BE7FCC77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089648-49D0-41FA-468E-6ED0CC088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F4497-40BC-9642-A42B-FFEBCE61EE38}" type="datetimeFigureOut">
              <a:rPr kumimoji="1" lang="ko-KR" altLang="en-US" smtClean="0"/>
              <a:t>2026. 8. 6.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798E0C-4E99-9C1B-E081-65687B1652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D26E15-2BA8-86F1-9A49-7B2DC6060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22FF7C-92DF-D242-BA6A-BB93A2DF12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228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DBC83F5C-6887-B68F-6AD2-01C636F2DF0C}"/>
              </a:ext>
            </a:extLst>
          </p:cNvPr>
          <p:cNvSpPr txBox="1">
            <a:spLocks/>
          </p:cNvSpPr>
          <p:nvPr/>
        </p:nvSpPr>
        <p:spPr>
          <a:xfrm>
            <a:off x="576946" y="365125"/>
            <a:ext cx="10515600" cy="334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>
                <a:latin typeface="+mn-ea"/>
                <a:ea typeface="+mn-ea"/>
              </a:rPr>
              <a:t>Agentic Banking </a:t>
            </a:r>
            <a:r>
              <a:rPr lang="ko-KR" altLang="en-US" sz="1400" b="1" dirty="0">
                <a:latin typeface="+mn-ea"/>
                <a:ea typeface="+mn-ea"/>
              </a:rPr>
              <a:t>전산개발 요청 건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F3E74548-9CAA-7390-FCCB-C3B41DA24ED3}"/>
              </a:ext>
            </a:extLst>
          </p:cNvPr>
          <p:cNvSpPr txBox="1">
            <a:spLocks/>
          </p:cNvSpPr>
          <p:nvPr/>
        </p:nvSpPr>
        <p:spPr>
          <a:xfrm>
            <a:off x="792326" y="704134"/>
            <a:ext cx="10515600" cy="2818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100" b="1" dirty="0">
                <a:latin typeface="+mn-ea"/>
              </a:rPr>
              <a:t>■ 공통 </a:t>
            </a:r>
            <a:r>
              <a:rPr lang="en-US" altLang="ko-KR" sz="1100" b="1" dirty="0">
                <a:latin typeface="+mn-ea"/>
              </a:rPr>
              <a:t>– </a:t>
            </a:r>
            <a:r>
              <a:rPr lang="ko-KR" altLang="en-US" sz="1100" b="1" dirty="0">
                <a:latin typeface="+mn-ea"/>
              </a:rPr>
              <a:t>초기화면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수정안</a:t>
            </a:r>
            <a:r>
              <a:rPr lang="en-US" altLang="ko-KR" sz="1100" b="1" dirty="0">
                <a:latin typeface="+mn-ea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E75F59-0A97-6FEC-5CBD-6BB613268665}"/>
              </a:ext>
            </a:extLst>
          </p:cNvPr>
          <p:cNvSpPr txBox="1"/>
          <p:nvPr/>
        </p:nvSpPr>
        <p:spPr>
          <a:xfrm>
            <a:off x="457298" y="1174060"/>
            <a:ext cx="8178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1</a:t>
            </a:r>
            <a:r>
              <a:rPr lang="ko-KR" altLang="en-US" sz="800" b="1" dirty="0"/>
              <a:t>안 </a:t>
            </a:r>
            <a:r>
              <a:rPr lang="en-US" altLang="ko-KR" sz="800" b="1" dirty="0"/>
              <a:t>– </a:t>
            </a:r>
            <a:r>
              <a:rPr lang="ko-KR" altLang="en-US" sz="800" b="1" dirty="0"/>
              <a:t>홈 상단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2B1663E-5AE9-A9F4-525F-85F6B18C80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3"/>
          <a:stretch/>
        </p:blipFill>
        <p:spPr>
          <a:xfrm>
            <a:off x="457298" y="1389504"/>
            <a:ext cx="2373481" cy="49022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3D62C1F0-C867-A5C6-4E40-A4590B2A556D}"/>
              </a:ext>
            </a:extLst>
          </p:cNvPr>
          <p:cNvSpPr/>
          <p:nvPr/>
        </p:nvSpPr>
        <p:spPr>
          <a:xfrm>
            <a:off x="457299" y="1880913"/>
            <a:ext cx="2373480" cy="180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7D53A2-DB61-DE01-6498-9C0109FB2F89}"/>
              </a:ext>
            </a:extLst>
          </p:cNvPr>
          <p:cNvSpPr txBox="1"/>
          <p:nvPr/>
        </p:nvSpPr>
        <p:spPr>
          <a:xfrm>
            <a:off x="457297" y="2061888"/>
            <a:ext cx="757189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FF0000"/>
                </a:solidFill>
              </a:rPr>
              <a:t>AI</a:t>
            </a:r>
            <a:r>
              <a:rPr lang="ko-KR" altLang="en-US" sz="1100" b="1" dirty="0">
                <a:solidFill>
                  <a:srgbClr val="FF0000"/>
                </a:solidFill>
              </a:rPr>
              <a:t>뱅킹 </a:t>
            </a:r>
            <a:r>
              <a:rPr lang="ko-KR" altLang="en-US" sz="1100" b="1" dirty="0" err="1">
                <a:solidFill>
                  <a:srgbClr val="FF0000"/>
                </a:solidFill>
              </a:rPr>
              <a:t>진입점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1A7059-408F-1FE9-9249-F395AEC720A6}"/>
              </a:ext>
            </a:extLst>
          </p:cNvPr>
          <p:cNvSpPr txBox="1"/>
          <p:nvPr/>
        </p:nvSpPr>
        <p:spPr>
          <a:xfrm>
            <a:off x="2942492" y="10641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15178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F427FC-DA40-D1C4-5A1A-8888C6905AAB}"/>
              </a:ext>
            </a:extLst>
          </p:cNvPr>
          <p:cNvSpPr txBox="1"/>
          <p:nvPr/>
        </p:nvSpPr>
        <p:spPr>
          <a:xfrm>
            <a:off x="895253" y="1045107"/>
            <a:ext cx="8178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2</a:t>
            </a:r>
            <a:r>
              <a:rPr lang="ko-KR" altLang="en-US" sz="800" b="1" dirty="0"/>
              <a:t>안 </a:t>
            </a:r>
            <a:r>
              <a:rPr lang="en-US" altLang="ko-KR" sz="800" b="1" dirty="0"/>
              <a:t>– </a:t>
            </a:r>
            <a:r>
              <a:rPr lang="ko-KR" altLang="en-US" sz="800" b="1" dirty="0"/>
              <a:t>홈 중단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CD4BD1-DE36-6D02-541D-ACE25EA5CC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3"/>
          <a:stretch/>
        </p:blipFill>
        <p:spPr>
          <a:xfrm>
            <a:off x="895253" y="1260551"/>
            <a:ext cx="2373481" cy="49022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25C9B79-27B0-0EDA-3165-982FBDF9BBE2}"/>
              </a:ext>
            </a:extLst>
          </p:cNvPr>
          <p:cNvSpPr/>
          <p:nvPr/>
        </p:nvSpPr>
        <p:spPr>
          <a:xfrm>
            <a:off x="1068538" y="3721491"/>
            <a:ext cx="465720" cy="4936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C973F-1979-F4CE-EB1F-6399B5E28AD1}"/>
              </a:ext>
            </a:extLst>
          </p:cNvPr>
          <p:cNvSpPr txBox="1"/>
          <p:nvPr/>
        </p:nvSpPr>
        <p:spPr>
          <a:xfrm>
            <a:off x="925663" y="3357053"/>
            <a:ext cx="757189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FF0000"/>
                </a:solidFill>
              </a:rPr>
              <a:t>AI</a:t>
            </a:r>
            <a:r>
              <a:rPr lang="ko-KR" altLang="en-US" sz="1100" b="1" dirty="0">
                <a:solidFill>
                  <a:srgbClr val="FF0000"/>
                </a:solidFill>
              </a:rPr>
              <a:t>뱅킹 </a:t>
            </a:r>
            <a:r>
              <a:rPr lang="ko-KR" altLang="en-US" sz="1100" b="1" dirty="0" err="1">
                <a:solidFill>
                  <a:srgbClr val="FF0000"/>
                </a:solidFill>
              </a:rPr>
              <a:t>진입점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617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1E774D-4A2D-6B60-F404-E166124CE972}"/>
              </a:ext>
            </a:extLst>
          </p:cNvPr>
          <p:cNvSpPr txBox="1"/>
          <p:nvPr/>
        </p:nvSpPr>
        <p:spPr>
          <a:xfrm>
            <a:off x="895253" y="1045107"/>
            <a:ext cx="1720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3</a:t>
            </a:r>
            <a:r>
              <a:rPr lang="ko-KR" altLang="en-US" sz="800" b="1" dirty="0"/>
              <a:t>안 </a:t>
            </a:r>
            <a:r>
              <a:rPr lang="en-US" altLang="ko-KR" sz="800" b="1" dirty="0"/>
              <a:t>– </a:t>
            </a:r>
            <a:r>
              <a:rPr lang="ko-KR" altLang="en-US" sz="800" b="1" dirty="0"/>
              <a:t>홈 오른쪽 상단 </a:t>
            </a:r>
            <a:r>
              <a:rPr lang="en-US" altLang="ko-KR" sz="800" b="1" dirty="0"/>
              <a:t>(</a:t>
            </a:r>
            <a:r>
              <a:rPr lang="ko-KR" altLang="en-US" sz="800" b="1" dirty="0"/>
              <a:t>이동 가능</a:t>
            </a:r>
            <a:r>
              <a:rPr lang="en-US" altLang="ko-KR" sz="800" b="1" dirty="0"/>
              <a:t>)</a:t>
            </a:r>
            <a:endParaRPr lang="ko-KR" altLang="en-US" sz="8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CA9C4D-F953-C3B2-AA6B-CC399D79CC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3"/>
          <a:stretch/>
        </p:blipFill>
        <p:spPr>
          <a:xfrm>
            <a:off x="895253" y="1260551"/>
            <a:ext cx="2373481" cy="49022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6624111-F4FC-E369-44C7-B9677400167B}"/>
              </a:ext>
            </a:extLst>
          </p:cNvPr>
          <p:cNvSpPr/>
          <p:nvPr/>
        </p:nvSpPr>
        <p:spPr>
          <a:xfrm>
            <a:off x="2699308" y="5198599"/>
            <a:ext cx="465720" cy="4936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10D088-9481-DEFD-52C4-E716C4F69E69}"/>
              </a:ext>
            </a:extLst>
          </p:cNvPr>
          <p:cNvSpPr txBox="1"/>
          <p:nvPr/>
        </p:nvSpPr>
        <p:spPr>
          <a:xfrm>
            <a:off x="2556433" y="4834161"/>
            <a:ext cx="757189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FF0000"/>
                </a:solidFill>
              </a:rPr>
              <a:t>AI</a:t>
            </a:r>
            <a:r>
              <a:rPr lang="ko-KR" altLang="en-US" sz="1100" b="1" dirty="0">
                <a:solidFill>
                  <a:srgbClr val="FF0000"/>
                </a:solidFill>
              </a:rPr>
              <a:t>뱅킹 </a:t>
            </a:r>
            <a:r>
              <a:rPr lang="ko-KR" altLang="en-US" sz="1100" b="1" dirty="0" err="1">
                <a:solidFill>
                  <a:srgbClr val="FF0000"/>
                </a:solidFill>
              </a:rPr>
              <a:t>진입점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F2A2C7B-111B-14D6-60C3-94C92324AFB6}"/>
              </a:ext>
            </a:extLst>
          </p:cNvPr>
          <p:cNvSpPr/>
          <p:nvPr/>
        </p:nvSpPr>
        <p:spPr>
          <a:xfrm>
            <a:off x="2751960" y="5298273"/>
            <a:ext cx="360415" cy="3644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208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C3BA61-23D2-62A2-93DE-1541600E7CAE}"/>
              </a:ext>
            </a:extLst>
          </p:cNvPr>
          <p:cNvSpPr txBox="1"/>
          <p:nvPr/>
        </p:nvSpPr>
        <p:spPr>
          <a:xfrm>
            <a:off x="895253" y="1045107"/>
            <a:ext cx="8178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4</a:t>
            </a:r>
            <a:r>
              <a:rPr lang="ko-KR" altLang="en-US" sz="800" b="1" dirty="0"/>
              <a:t>안 </a:t>
            </a:r>
            <a:r>
              <a:rPr lang="en-US" altLang="ko-KR" sz="800" b="1" dirty="0"/>
              <a:t>– </a:t>
            </a:r>
            <a:r>
              <a:rPr lang="ko-KR" altLang="en-US" sz="800" b="1" dirty="0"/>
              <a:t>홈 중단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0CC86B-2793-65F9-DD0C-47D984DD92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3"/>
          <a:stretch/>
        </p:blipFill>
        <p:spPr>
          <a:xfrm>
            <a:off x="895253" y="1260551"/>
            <a:ext cx="2373481" cy="49022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3BC97CC-FE45-8C30-A666-84B1D7EAF235}"/>
              </a:ext>
            </a:extLst>
          </p:cNvPr>
          <p:cNvSpPr/>
          <p:nvPr/>
        </p:nvSpPr>
        <p:spPr>
          <a:xfrm>
            <a:off x="2533923" y="5531000"/>
            <a:ext cx="465720" cy="4936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D62D3A-BEDF-25C5-3C63-4AB926B6FB3E}"/>
              </a:ext>
            </a:extLst>
          </p:cNvPr>
          <p:cNvSpPr txBox="1"/>
          <p:nvPr/>
        </p:nvSpPr>
        <p:spPr>
          <a:xfrm>
            <a:off x="2391048" y="5166562"/>
            <a:ext cx="757189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FF0000"/>
                </a:solidFill>
              </a:rPr>
              <a:t>AI</a:t>
            </a:r>
            <a:r>
              <a:rPr lang="ko-KR" altLang="en-US" sz="1100" b="1" dirty="0">
                <a:solidFill>
                  <a:srgbClr val="FF0000"/>
                </a:solidFill>
              </a:rPr>
              <a:t>뱅킹 </a:t>
            </a:r>
            <a:r>
              <a:rPr lang="ko-KR" altLang="en-US" sz="1100" b="1" dirty="0" err="1">
                <a:solidFill>
                  <a:srgbClr val="FF0000"/>
                </a:solidFill>
              </a:rPr>
              <a:t>진입점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972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00B4ECC1-C836-FF23-1923-D654C9DDD9C8}"/>
              </a:ext>
            </a:extLst>
          </p:cNvPr>
          <p:cNvGrpSpPr/>
          <p:nvPr/>
        </p:nvGrpSpPr>
        <p:grpSpPr>
          <a:xfrm>
            <a:off x="859576" y="0"/>
            <a:ext cx="3563007" cy="6858000"/>
            <a:chOff x="2532993" y="0"/>
            <a:chExt cx="3563007" cy="6858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7BCFD82-FF1A-F827-7310-2DF9628DE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2993" y="0"/>
              <a:ext cx="3563007" cy="6858000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7C3B2E4-E6FA-DE2F-620A-893976470F89}"/>
                </a:ext>
              </a:extLst>
            </p:cNvPr>
            <p:cNvSpPr/>
            <p:nvPr/>
          </p:nvSpPr>
          <p:spPr>
            <a:xfrm>
              <a:off x="2677100" y="958468"/>
              <a:ext cx="3294042" cy="4831574"/>
            </a:xfrm>
            <a:prstGeom prst="rect">
              <a:avLst/>
            </a:prstGeom>
            <a:solidFill>
              <a:srgbClr val="EEF8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EDF85204-AE8E-248A-2DD0-39BB3D0B78E5}"/>
              </a:ext>
            </a:extLst>
          </p:cNvPr>
          <p:cNvSpPr/>
          <p:nvPr/>
        </p:nvSpPr>
        <p:spPr>
          <a:xfrm>
            <a:off x="1496687" y="1981200"/>
            <a:ext cx="2260600" cy="457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l"/>
            <a:r>
              <a:rPr kumimoji="1" lang="ko-KR" altLang="en-US" sz="900">
                <a:solidFill>
                  <a:srgbClr val="1A1A1A"/>
                </a:solidFill>
              </a:rPr>
              <a:t>네</a:t>
            </a:r>
            <a:r>
              <a:rPr kumimoji="1" lang="en-US" altLang="ko-KR" sz="900">
                <a:solidFill>
                  <a:srgbClr val="1A1A1A"/>
                </a:solidFill>
              </a:rPr>
              <a:t>, </a:t>
            </a:r>
            <a:r>
              <a:rPr kumimoji="1" lang="ko-KR" altLang="en-US" sz="900">
                <a:solidFill>
                  <a:srgbClr val="1A1A1A"/>
                </a:solidFill>
              </a:rPr>
              <a:t>고객님 명의로 등록된 계좌를 모두 안내해 드리겠습니다</a:t>
            </a:r>
            <a:r>
              <a:rPr kumimoji="1" lang="en-US" altLang="ko-KR" sz="900">
                <a:solidFill>
                  <a:srgbClr val="1A1A1A"/>
                </a:solidFill>
              </a:rPr>
              <a:t>.</a:t>
            </a:r>
            <a:endParaRPr kumimoji="1" lang="ko-KR" altLang="en-US" sz="900" dirty="0">
              <a:solidFill>
                <a:srgbClr val="1A1A1A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2A6DF0A1-6667-F4AD-054F-B965EB1DE367}"/>
              </a:ext>
            </a:extLst>
          </p:cNvPr>
          <p:cNvSpPr/>
          <p:nvPr/>
        </p:nvSpPr>
        <p:spPr>
          <a:xfrm>
            <a:off x="2995287" y="1574800"/>
            <a:ext cx="1168400" cy="304800"/>
          </a:xfrm>
          <a:prstGeom prst="roundRect">
            <a:avLst/>
          </a:prstGeom>
          <a:solidFill>
            <a:srgbClr val="BCE5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l"/>
            <a:r>
              <a:rPr kumimoji="1" lang="ko-KR" altLang="en-US" sz="900">
                <a:solidFill>
                  <a:srgbClr val="1A1A1A"/>
                </a:solidFill>
              </a:rPr>
              <a:t>내 계좌 보여줘</a:t>
            </a:r>
            <a:r>
              <a:rPr kumimoji="1" lang="en-US" altLang="ko-KR" sz="900">
                <a:solidFill>
                  <a:srgbClr val="1A1A1A"/>
                </a:solidFill>
              </a:rPr>
              <a:t>.</a:t>
            </a:r>
            <a:endParaRPr kumimoji="1" lang="ko-KR" altLang="en-US" sz="900" dirty="0">
              <a:solidFill>
                <a:srgbClr val="1A1A1A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705E7AF9-F227-BAFF-455B-4C079AA2782B}"/>
              </a:ext>
            </a:extLst>
          </p:cNvPr>
          <p:cNvSpPr/>
          <p:nvPr/>
        </p:nvSpPr>
        <p:spPr>
          <a:xfrm>
            <a:off x="1496687" y="1066800"/>
            <a:ext cx="1676400" cy="431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900">
                <a:solidFill>
                  <a:srgbClr val="1A1A1A"/>
                </a:solidFill>
              </a:rPr>
              <a:t>안녕하세요</a:t>
            </a:r>
            <a:r>
              <a:rPr lang="en-US" altLang="ko-KR" sz="900">
                <a:solidFill>
                  <a:srgbClr val="1A1A1A"/>
                </a:solidFill>
              </a:rPr>
              <a:t>, </a:t>
            </a:r>
            <a:r>
              <a:rPr lang="ko-KR" altLang="en-US" sz="900">
                <a:solidFill>
                  <a:srgbClr val="1A1A1A"/>
                </a:solidFill>
              </a:rPr>
              <a:t>고객님</a:t>
            </a:r>
            <a:r>
              <a:rPr lang="en-US" altLang="ko-KR" sz="900">
                <a:solidFill>
                  <a:srgbClr val="1A1A1A"/>
                </a:solidFill>
              </a:rPr>
              <a:t>.
</a:t>
            </a:r>
            <a:r>
              <a:rPr lang="ko-KR" altLang="en-US" sz="900">
                <a:solidFill>
                  <a:srgbClr val="1A1A1A"/>
                </a:solidFill>
              </a:rPr>
              <a:t>무엇을 도와드릴까요</a:t>
            </a:r>
            <a:r>
              <a:rPr lang="en-US" altLang="ko-KR" sz="900">
                <a:solidFill>
                  <a:srgbClr val="1A1A1A"/>
                </a:solidFill>
              </a:rPr>
              <a:t>?</a:t>
            </a:r>
            <a:endParaRPr lang="ko-KR" altLang="en-US" sz="900">
              <a:solidFill>
                <a:srgbClr val="1A1A1A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F7B33BC-3CC7-A6F1-26E5-0FC9F89C1F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1047751" y="1992443"/>
            <a:ext cx="449706" cy="4497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1A05446-570B-78F4-E9EA-7CD7367950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0" t="976" r="2941" b="26494"/>
          <a:stretch>
            <a:fillRect/>
          </a:stretch>
        </p:blipFill>
        <p:spPr>
          <a:xfrm>
            <a:off x="1092023" y="2495932"/>
            <a:ext cx="3117362" cy="3620055"/>
          </a:xfrm>
          <a:prstGeom prst="rect">
            <a:avLst/>
          </a:prstGeom>
          <a:effectLst>
            <a:softEdge rad="79542"/>
          </a:effec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E0C39675-6011-0070-C52E-E61F5A8652FE}"/>
              </a:ext>
            </a:extLst>
          </p:cNvPr>
          <p:cNvGrpSpPr/>
          <p:nvPr/>
        </p:nvGrpSpPr>
        <p:grpSpPr>
          <a:xfrm>
            <a:off x="4668966" y="0"/>
            <a:ext cx="3563007" cy="6858000"/>
            <a:chOff x="2532993" y="0"/>
            <a:chExt cx="3563007" cy="6858000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FDB12BCD-8EBE-60A7-C669-755643807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2993" y="0"/>
              <a:ext cx="3563007" cy="6858000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394F07A-512B-EFB4-5B3F-83F793D50F33}"/>
                </a:ext>
              </a:extLst>
            </p:cNvPr>
            <p:cNvSpPr/>
            <p:nvPr/>
          </p:nvSpPr>
          <p:spPr>
            <a:xfrm>
              <a:off x="2677100" y="958468"/>
              <a:ext cx="3294042" cy="4831574"/>
            </a:xfrm>
            <a:prstGeom prst="rect">
              <a:avLst/>
            </a:prstGeom>
            <a:solidFill>
              <a:srgbClr val="EEF8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EDB47C53-DA7D-9109-1641-EBA0184A4A1A}"/>
              </a:ext>
            </a:extLst>
          </p:cNvPr>
          <p:cNvSpPr/>
          <p:nvPr/>
        </p:nvSpPr>
        <p:spPr>
          <a:xfrm>
            <a:off x="5072920" y="2311400"/>
            <a:ext cx="10668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750" dirty="0">
                <a:solidFill>
                  <a:srgbClr val="0FA97F"/>
                </a:solidFill>
              </a:rPr>
              <a:t>카테고리별 상세보기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13646A8C-98F0-0071-3D39-B07C32DBD82D}"/>
              </a:ext>
            </a:extLst>
          </p:cNvPr>
          <p:cNvSpPr/>
          <p:nvPr/>
        </p:nvSpPr>
        <p:spPr>
          <a:xfrm>
            <a:off x="6215920" y="2311400"/>
            <a:ext cx="8382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750">
                <a:solidFill>
                  <a:srgbClr val="0FA97F"/>
                </a:solidFill>
              </a:rPr>
              <a:t>자산 추이 보기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739D58D3-45B3-3221-94F4-87D55C717987}"/>
              </a:ext>
            </a:extLst>
          </p:cNvPr>
          <p:cNvSpPr/>
          <p:nvPr/>
        </p:nvSpPr>
        <p:spPr>
          <a:xfrm>
            <a:off x="7130320" y="2311400"/>
            <a:ext cx="4318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750">
                <a:solidFill>
                  <a:srgbClr val="0FA97F"/>
                </a:solidFill>
              </a:rPr>
              <a:t>완료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FDB16A0C-BBD5-864B-A9C2-3877AD7167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0" t="72339" r="2941" b="162"/>
          <a:stretch>
            <a:fillRect/>
          </a:stretch>
        </p:blipFill>
        <p:spPr>
          <a:xfrm>
            <a:off x="4901413" y="888549"/>
            <a:ext cx="3117362" cy="1372502"/>
          </a:xfrm>
          <a:prstGeom prst="rect">
            <a:avLst/>
          </a:prstGeom>
          <a:effectLst>
            <a:softEdge rad="79542"/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E1D2C12-A206-8E89-CAEB-301A33358E1A}"/>
              </a:ext>
            </a:extLst>
          </p:cNvPr>
          <p:cNvSpPr txBox="1"/>
          <p:nvPr/>
        </p:nvSpPr>
        <p:spPr>
          <a:xfrm>
            <a:off x="156754" y="165100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</a:t>
            </a:r>
            <a:r>
              <a:rPr kumimoji="1" lang="ko-KR" altLang="en-US" dirty="0"/>
              <a:t>안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F7038F-26B0-45DE-C4B4-BE0DD77DE301}"/>
              </a:ext>
            </a:extLst>
          </p:cNvPr>
          <p:cNvSpPr txBox="1"/>
          <p:nvPr/>
        </p:nvSpPr>
        <p:spPr>
          <a:xfrm>
            <a:off x="-1248" y="-44699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대표 시나리오</a:t>
            </a:r>
          </a:p>
        </p:txBody>
      </p:sp>
      <p:sp>
        <p:nvSpPr>
          <p:cNvPr id="31" name="액자 30">
            <a:extLst>
              <a:ext uri="{FF2B5EF4-FFF2-40B4-BE49-F238E27FC236}">
                <a16:creationId xmlns:a16="http://schemas.microsoft.com/office/drawing/2014/main" id="{C820AD19-B0D8-F2F5-546F-E9A3809EAAEA}"/>
              </a:ext>
            </a:extLst>
          </p:cNvPr>
          <p:cNvSpPr/>
          <p:nvPr/>
        </p:nvSpPr>
        <p:spPr>
          <a:xfrm>
            <a:off x="5020644" y="2288290"/>
            <a:ext cx="2033476" cy="315210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49A0FB5-9E5D-2766-EAC7-A03763A44145}"/>
              </a:ext>
            </a:extLst>
          </p:cNvPr>
          <p:cNvSpPr/>
          <p:nvPr/>
        </p:nvSpPr>
        <p:spPr>
          <a:xfrm>
            <a:off x="5478579" y="2603500"/>
            <a:ext cx="1322282" cy="29210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800" dirty="0" err="1"/>
              <a:t>딥링크</a:t>
            </a:r>
            <a:endParaRPr kumimoji="1" lang="ko-KR" altLang="en-US" sz="800" dirty="0"/>
          </a:p>
        </p:txBody>
      </p:sp>
      <p:sp>
        <p:nvSpPr>
          <p:cNvPr id="33" name="액자 32">
            <a:extLst>
              <a:ext uri="{FF2B5EF4-FFF2-40B4-BE49-F238E27FC236}">
                <a16:creationId xmlns:a16="http://schemas.microsoft.com/office/drawing/2014/main" id="{CBE822F4-1DF4-9499-461D-EF3D44137C83}"/>
              </a:ext>
            </a:extLst>
          </p:cNvPr>
          <p:cNvSpPr/>
          <p:nvPr/>
        </p:nvSpPr>
        <p:spPr>
          <a:xfrm>
            <a:off x="3519347" y="3097596"/>
            <a:ext cx="498017" cy="299272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C7C1DA0-27CC-58F0-31DC-379455DA2DBE}"/>
              </a:ext>
            </a:extLst>
          </p:cNvPr>
          <p:cNvSpPr/>
          <p:nvPr/>
        </p:nvSpPr>
        <p:spPr>
          <a:xfrm>
            <a:off x="3519347" y="3376754"/>
            <a:ext cx="1322282" cy="29210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800" dirty="0"/>
              <a:t>이체 시나리오로 전환</a:t>
            </a:r>
          </a:p>
        </p:txBody>
      </p:sp>
      <p:sp>
        <p:nvSpPr>
          <p:cNvPr id="36" name="해 35">
            <a:extLst>
              <a:ext uri="{FF2B5EF4-FFF2-40B4-BE49-F238E27FC236}">
                <a16:creationId xmlns:a16="http://schemas.microsoft.com/office/drawing/2014/main" id="{DC33DDFF-4400-A03C-6118-F72A5B8AF010}"/>
              </a:ext>
            </a:extLst>
          </p:cNvPr>
          <p:cNvSpPr/>
          <p:nvPr/>
        </p:nvSpPr>
        <p:spPr>
          <a:xfrm>
            <a:off x="7291754" y="2004166"/>
            <a:ext cx="2121877" cy="1969957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56650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219EC92-5F54-FBBF-E426-5EE22B37EB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37" t="22513" r="8401" b="3607"/>
          <a:stretch>
            <a:fillRect/>
          </a:stretch>
        </p:blipFill>
        <p:spPr>
          <a:xfrm>
            <a:off x="1014334" y="895662"/>
            <a:ext cx="10163331" cy="50666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CDC66B-3A14-23B2-65F4-37EFD8D59267}"/>
              </a:ext>
            </a:extLst>
          </p:cNvPr>
          <p:cNvSpPr txBox="1"/>
          <p:nvPr/>
        </p:nvSpPr>
        <p:spPr>
          <a:xfrm>
            <a:off x="804472" y="895662"/>
            <a:ext cx="32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B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053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그룹 90">
            <a:extLst>
              <a:ext uri="{FF2B5EF4-FFF2-40B4-BE49-F238E27FC236}">
                <a16:creationId xmlns:a16="http://schemas.microsoft.com/office/drawing/2014/main" id="{2456477E-F207-5B2A-F232-E880235DE1DC}"/>
              </a:ext>
            </a:extLst>
          </p:cNvPr>
          <p:cNvGrpSpPr/>
          <p:nvPr/>
        </p:nvGrpSpPr>
        <p:grpSpPr>
          <a:xfrm>
            <a:off x="8444460" y="45884"/>
            <a:ext cx="3563007" cy="6829731"/>
            <a:chOff x="2532993" y="0"/>
            <a:chExt cx="3563007" cy="6858000"/>
          </a:xfrm>
        </p:grpSpPr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56F852D5-C2E9-1ECB-BBA5-6C8F3140E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2993" y="0"/>
              <a:ext cx="3563007" cy="6858000"/>
            </a:xfrm>
            <a:prstGeom prst="rect">
              <a:avLst/>
            </a:prstGeom>
          </p:spPr>
        </p:pic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59AB7A91-E13B-5D17-B25F-5044F9E7DC2D}"/>
                </a:ext>
              </a:extLst>
            </p:cNvPr>
            <p:cNvSpPr/>
            <p:nvPr/>
          </p:nvSpPr>
          <p:spPr>
            <a:xfrm>
              <a:off x="2677100" y="958468"/>
              <a:ext cx="3294042" cy="4831574"/>
            </a:xfrm>
            <a:prstGeom prst="rect">
              <a:avLst/>
            </a:prstGeom>
            <a:solidFill>
              <a:srgbClr val="EEF8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54BFF27D-21F0-9C4E-91CA-F9A2035C0E6C}"/>
              </a:ext>
            </a:extLst>
          </p:cNvPr>
          <p:cNvSpPr/>
          <p:nvPr/>
        </p:nvSpPr>
        <p:spPr>
          <a:xfrm>
            <a:off x="4850151" y="2540000"/>
            <a:ext cx="3073400" cy="2946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E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3B54A71-3C2D-5943-AF26-CBBFD47EA5B3}"/>
              </a:ext>
            </a:extLst>
          </p:cNvPr>
          <p:cNvSpPr/>
          <p:nvPr/>
        </p:nvSpPr>
        <p:spPr>
          <a:xfrm>
            <a:off x="4926351" y="4368800"/>
            <a:ext cx="2921000" cy="381000"/>
          </a:xfrm>
          <a:prstGeom prst="rect">
            <a:avLst/>
          </a:prstGeom>
          <a:solidFill>
            <a:srgbClr val="E4F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C48CB48-BFBA-0A4C-8EDD-FC56C737A607}"/>
              </a:ext>
            </a:extLst>
          </p:cNvPr>
          <p:cNvSpPr/>
          <p:nvPr/>
        </p:nvSpPr>
        <p:spPr>
          <a:xfrm>
            <a:off x="4926351" y="2921000"/>
            <a:ext cx="2921000" cy="1066800"/>
          </a:xfrm>
          <a:prstGeom prst="rect">
            <a:avLst/>
          </a:prstGeom>
          <a:solidFill>
            <a:srgbClr val="E4F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8EC7BF6-7066-50A9-EF1B-EF91E73F7AFE}"/>
              </a:ext>
            </a:extLst>
          </p:cNvPr>
          <p:cNvGrpSpPr/>
          <p:nvPr/>
        </p:nvGrpSpPr>
        <p:grpSpPr>
          <a:xfrm>
            <a:off x="844587" y="0"/>
            <a:ext cx="3563007" cy="6858000"/>
            <a:chOff x="2532993" y="0"/>
            <a:chExt cx="3563007" cy="685800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5F39559-82DB-6A01-F70F-D28B9EB55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2993" y="0"/>
              <a:ext cx="3563007" cy="685800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9BF00BB-BCA2-894F-476B-7F58AE239787}"/>
                </a:ext>
              </a:extLst>
            </p:cNvPr>
            <p:cNvSpPr/>
            <p:nvPr/>
          </p:nvSpPr>
          <p:spPr>
            <a:xfrm>
              <a:off x="2677100" y="958468"/>
              <a:ext cx="3294042" cy="4831574"/>
            </a:xfrm>
            <a:prstGeom prst="rect">
              <a:avLst/>
            </a:prstGeom>
            <a:solidFill>
              <a:srgbClr val="EEF8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8FFCDEF1-57FB-E258-AEBF-81A0DA5F9E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1032762" y="977900"/>
            <a:ext cx="449706" cy="449705"/>
          </a:xfrm>
          <a:prstGeom prst="rect">
            <a:avLst/>
          </a:prstGeom>
        </p:spPr>
      </p:pic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99D660A-1A9D-96C2-0396-BB22691D27B2}"/>
              </a:ext>
            </a:extLst>
          </p:cNvPr>
          <p:cNvSpPr/>
          <p:nvPr/>
        </p:nvSpPr>
        <p:spPr>
          <a:xfrm>
            <a:off x="1481698" y="1981200"/>
            <a:ext cx="2260600" cy="457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l"/>
            <a:r>
              <a:rPr kumimoji="1" lang="ko-KR" altLang="en-US" sz="900">
                <a:solidFill>
                  <a:srgbClr val="1A1A1A"/>
                </a:solidFill>
              </a:rPr>
              <a:t>네</a:t>
            </a:r>
            <a:r>
              <a:rPr kumimoji="1" lang="en-US" altLang="ko-KR" sz="900">
                <a:solidFill>
                  <a:srgbClr val="1A1A1A"/>
                </a:solidFill>
              </a:rPr>
              <a:t>, </a:t>
            </a:r>
            <a:r>
              <a:rPr kumimoji="1" lang="ko-KR" altLang="en-US" sz="900">
                <a:solidFill>
                  <a:srgbClr val="1A1A1A"/>
                </a:solidFill>
              </a:rPr>
              <a:t>고객님 명의로 등록된 계좌를 모두 안내해 드리겠습니다</a:t>
            </a:r>
            <a:r>
              <a:rPr kumimoji="1" lang="en-US" altLang="ko-KR" sz="900">
                <a:solidFill>
                  <a:srgbClr val="1A1A1A"/>
                </a:solidFill>
              </a:rPr>
              <a:t>.</a:t>
            </a:r>
            <a:endParaRPr kumimoji="1" lang="ko-KR" altLang="en-US" sz="900" dirty="0">
              <a:solidFill>
                <a:srgbClr val="1A1A1A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3952694-2FD3-D4D0-5910-447B304BBE41}"/>
              </a:ext>
            </a:extLst>
          </p:cNvPr>
          <p:cNvSpPr/>
          <p:nvPr/>
        </p:nvSpPr>
        <p:spPr>
          <a:xfrm>
            <a:off x="2980298" y="1574800"/>
            <a:ext cx="1168400" cy="304800"/>
          </a:xfrm>
          <a:prstGeom prst="roundRect">
            <a:avLst/>
          </a:prstGeom>
          <a:solidFill>
            <a:srgbClr val="BCE5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l"/>
            <a:r>
              <a:rPr kumimoji="1" lang="ko-KR" altLang="en-US" sz="900">
                <a:solidFill>
                  <a:srgbClr val="1A1A1A"/>
                </a:solidFill>
              </a:rPr>
              <a:t>내 계좌 보여줘</a:t>
            </a:r>
            <a:r>
              <a:rPr kumimoji="1" lang="en-US" altLang="ko-KR" sz="900">
                <a:solidFill>
                  <a:srgbClr val="1A1A1A"/>
                </a:solidFill>
              </a:rPr>
              <a:t>.</a:t>
            </a:r>
            <a:endParaRPr kumimoji="1" lang="ko-KR" altLang="en-US" sz="900" dirty="0">
              <a:solidFill>
                <a:srgbClr val="1A1A1A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2482B46E-0703-2649-BB74-A3E89C6709B7}"/>
              </a:ext>
            </a:extLst>
          </p:cNvPr>
          <p:cNvSpPr/>
          <p:nvPr/>
        </p:nvSpPr>
        <p:spPr>
          <a:xfrm>
            <a:off x="1481698" y="1066800"/>
            <a:ext cx="1676400" cy="431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900">
                <a:solidFill>
                  <a:srgbClr val="1A1A1A"/>
                </a:solidFill>
              </a:rPr>
              <a:t>안녕하세요</a:t>
            </a:r>
            <a:r>
              <a:rPr lang="en-US" altLang="ko-KR" sz="900">
                <a:solidFill>
                  <a:srgbClr val="1A1A1A"/>
                </a:solidFill>
              </a:rPr>
              <a:t>, </a:t>
            </a:r>
            <a:r>
              <a:rPr lang="ko-KR" altLang="en-US" sz="900">
                <a:solidFill>
                  <a:srgbClr val="1A1A1A"/>
                </a:solidFill>
              </a:rPr>
              <a:t>고객님</a:t>
            </a:r>
            <a:r>
              <a:rPr lang="en-US" altLang="ko-KR" sz="900">
                <a:solidFill>
                  <a:srgbClr val="1A1A1A"/>
                </a:solidFill>
              </a:rPr>
              <a:t>.
</a:t>
            </a:r>
            <a:r>
              <a:rPr lang="ko-KR" altLang="en-US" sz="900">
                <a:solidFill>
                  <a:srgbClr val="1A1A1A"/>
                </a:solidFill>
              </a:rPr>
              <a:t>무엇을 도와드릴까요</a:t>
            </a:r>
            <a:r>
              <a:rPr lang="en-US" altLang="ko-KR" sz="900">
                <a:solidFill>
                  <a:srgbClr val="1A1A1A"/>
                </a:solidFill>
              </a:rPr>
              <a:t>?</a:t>
            </a:r>
            <a:endParaRPr lang="ko-KR" altLang="en-US" sz="900">
              <a:solidFill>
                <a:srgbClr val="1A1A1A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B20D4316-FE69-094F-AF1B-17A4A42D647C}"/>
              </a:ext>
            </a:extLst>
          </p:cNvPr>
          <p:cNvSpPr/>
          <p:nvPr/>
        </p:nvSpPr>
        <p:spPr>
          <a:xfrm>
            <a:off x="1075298" y="2565400"/>
            <a:ext cx="3073400" cy="1549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E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5BF72A5-4C99-6D49-BF3E-AA190228D128}"/>
              </a:ext>
            </a:extLst>
          </p:cNvPr>
          <p:cNvSpPr/>
          <p:nvPr/>
        </p:nvSpPr>
        <p:spPr>
          <a:xfrm>
            <a:off x="1227698" y="2705100"/>
            <a:ext cx="177800" cy="1778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9D6D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800" dirty="0">
                <a:solidFill>
                  <a:srgbClr val="5A6B66"/>
                </a:solidFill>
              </a:rPr>
              <a:t>+</a:t>
            </a:r>
            <a:endParaRPr lang="ko-KR" altLang="en-US" sz="800" dirty="0">
              <a:solidFill>
                <a:srgbClr val="5A6B6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D1EB35-5803-F545-8D98-8A8F32E1C953}"/>
              </a:ext>
            </a:extLst>
          </p:cNvPr>
          <p:cNvSpPr txBox="1"/>
          <p:nvPr/>
        </p:nvSpPr>
        <p:spPr>
          <a:xfrm>
            <a:off x="1481698" y="2717800"/>
            <a:ext cx="1016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>
              <a:buNone/>
            </a:pPr>
            <a:r>
              <a:rPr lang="ko-KR" sz="950" b="1" dirty="0">
                <a:solidFill>
                  <a:srgbClr val="1A1A1A"/>
                </a:solidFill>
              </a:rPr>
              <a:t>수신</a:t>
            </a:r>
            <a:r>
              <a:rPr lang="ko-KR" sz="800" b="0" dirty="0">
                <a:solidFill>
                  <a:srgbClr val="5A6B66"/>
                </a:solidFill>
              </a:rPr>
              <a:t>  (3개)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4D76D2-E95F-AE44-8309-DFB3581FF91A}"/>
              </a:ext>
            </a:extLst>
          </p:cNvPr>
          <p:cNvSpPr txBox="1"/>
          <p:nvPr/>
        </p:nvSpPr>
        <p:spPr>
          <a:xfrm>
            <a:off x="2573898" y="2717800"/>
            <a:ext cx="14224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>
              <a:buNone/>
            </a:pPr>
            <a:r>
              <a:rPr lang="ko-KR" sz="950" b="1" dirty="0">
                <a:solidFill>
                  <a:srgbClr val="1A1A1A"/>
                </a:solidFill>
              </a:rPr>
              <a:t>15,320,000원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B1FCC9-3A62-B442-9976-6F0B96591A26}"/>
              </a:ext>
            </a:extLst>
          </p:cNvPr>
          <p:cNvSpPr/>
          <p:nvPr/>
        </p:nvSpPr>
        <p:spPr>
          <a:xfrm>
            <a:off x="1227698" y="29718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C8ECBF1D-3BA5-D645-AB3A-95A5285F5084}"/>
              </a:ext>
            </a:extLst>
          </p:cNvPr>
          <p:cNvSpPr/>
          <p:nvPr/>
        </p:nvSpPr>
        <p:spPr>
          <a:xfrm>
            <a:off x="1227698" y="3035300"/>
            <a:ext cx="177800" cy="1778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9D6D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800">
                <a:solidFill>
                  <a:srgbClr val="5A6B66"/>
                </a:solidFill>
              </a:rPr>
              <a:t>+</a:t>
            </a:r>
            <a:endParaRPr lang="ko-KR" altLang="en-US" sz="800">
              <a:solidFill>
                <a:srgbClr val="5A6B6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E7B397-7F2E-AC4F-A053-CB316FD06892}"/>
              </a:ext>
            </a:extLst>
          </p:cNvPr>
          <p:cNvSpPr txBox="1"/>
          <p:nvPr/>
        </p:nvSpPr>
        <p:spPr>
          <a:xfrm>
            <a:off x="1481698" y="3048000"/>
            <a:ext cx="1016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>
              <a:buNone/>
            </a:pPr>
            <a:r>
              <a:rPr lang="ko-KR" sz="950" b="1" dirty="0">
                <a:solidFill>
                  <a:srgbClr val="1A1A1A"/>
                </a:solidFill>
              </a:rPr>
              <a:t>외환</a:t>
            </a:r>
            <a:r>
              <a:rPr lang="ko-KR" sz="800" b="0" dirty="0">
                <a:solidFill>
                  <a:srgbClr val="5A6B66"/>
                </a:solidFill>
              </a:rPr>
              <a:t>  (1개)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DD31B9-4C70-D24D-88F4-9B97DD77D2AC}"/>
              </a:ext>
            </a:extLst>
          </p:cNvPr>
          <p:cNvSpPr txBox="1"/>
          <p:nvPr/>
        </p:nvSpPr>
        <p:spPr>
          <a:xfrm>
            <a:off x="2573898" y="3048000"/>
            <a:ext cx="14224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>
              <a:buNone/>
            </a:pPr>
            <a:r>
              <a:rPr lang="ko-KR" sz="950" b="1" dirty="0">
                <a:solidFill>
                  <a:srgbClr val="1A1A1A"/>
                </a:solidFill>
              </a:rPr>
              <a:t>1,687,500원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D885EF5-1B7A-6B47-A3A6-3434DB2CE3D1}"/>
              </a:ext>
            </a:extLst>
          </p:cNvPr>
          <p:cNvSpPr/>
          <p:nvPr/>
        </p:nvSpPr>
        <p:spPr>
          <a:xfrm>
            <a:off x="1227698" y="33020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7617F54-6675-8046-AC78-7E3924D9EBAB}"/>
              </a:ext>
            </a:extLst>
          </p:cNvPr>
          <p:cNvSpPr/>
          <p:nvPr/>
        </p:nvSpPr>
        <p:spPr>
          <a:xfrm>
            <a:off x="1227698" y="3365500"/>
            <a:ext cx="177800" cy="1778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9D6D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800">
                <a:solidFill>
                  <a:srgbClr val="5A6B66"/>
                </a:solidFill>
              </a:rPr>
              <a:t>+</a:t>
            </a:r>
            <a:endParaRPr lang="ko-KR" altLang="en-US" sz="800">
              <a:solidFill>
                <a:srgbClr val="5A6B6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5A2820-2359-114A-9F13-B581DFFF8156}"/>
              </a:ext>
            </a:extLst>
          </p:cNvPr>
          <p:cNvSpPr txBox="1"/>
          <p:nvPr/>
        </p:nvSpPr>
        <p:spPr>
          <a:xfrm>
            <a:off x="1481698" y="3378200"/>
            <a:ext cx="1016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>
              <a:buNone/>
            </a:pPr>
            <a:r>
              <a:rPr lang="ko-KR" sz="950" b="1" dirty="0">
                <a:solidFill>
                  <a:srgbClr val="1A1A1A"/>
                </a:solidFill>
              </a:rPr>
              <a:t>투자</a:t>
            </a:r>
            <a:r>
              <a:rPr lang="ko-KR" sz="800" b="0" dirty="0">
                <a:solidFill>
                  <a:srgbClr val="5A6B66"/>
                </a:solidFill>
              </a:rPr>
              <a:t>  (2개)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CF22C9-8ED3-CF44-B5DE-A32196417109}"/>
              </a:ext>
            </a:extLst>
          </p:cNvPr>
          <p:cNvSpPr txBox="1"/>
          <p:nvPr/>
        </p:nvSpPr>
        <p:spPr>
          <a:xfrm>
            <a:off x="2573898" y="3378200"/>
            <a:ext cx="14224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>
              <a:buNone/>
            </a:pPr>
            <a:r>
              <a:rPr lang="ko-KR" sz="950" b="1" dirty="0">
                <a:solidFill>
                  <a:srgbClr val="1A1A1A"/>
                </a:solidFill>
              </a:rPr>
              <a:t>10,950,000원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28E27C2-AECF-174A-BBE1-C8CF14A4E16B}"/>
              </a:ext>
            </a:extLst>
          </p:cNvPr>
          <p:cNvSpPr/>
          <p:nvPr/>
        </p:nvSpPr>
        <p:spPr>
          <a:xfrm>
            <a:off x="1227698" y="36322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D6560C4D-6371-F246-9FF9-B5308957F793}"/>
              </a:ext>
            </a:extLst>
          </p:cNvPr>
          <p:cNvSpPr/>
          <p:nvPr/>
        </p:nvSpPr>
        <p:spPr>
          <a:xfrm>
            <a:off x="1227698" y="3695700"/>
            <a:ext cx="177800" cy="1778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9D6D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800">
                <a:solidFill>
                  <a:srgbClr val="5A6B66"/>
                </a:solidFill>
              </a:rPr>
              <a:t>+</a:t>
            </a:r>
            <a:endParaRPr lang="ko-KR" altLang="en-US" sz="800">
              <a:solidFill>
                <a:srgbClr val="5A6B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8F0A70-9084-ED4A-802B-519D4C230DFF}"/>
              </a:ext>
            </a:extLst>
          </p:cNvPr>
          <p:cNvSpPr txBox="1"/>
          <p:nvPr/>
        </p:nvSpPr>
        <p:spPr>
          <a:xfrm>
            <a:off x="1481698" y="3708400"/>
            <a:ext cx="1016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>
              <a:buNone/>
            </a:pPr>
            <a:r>
              <a:rPr lang="ko-KR" sz="950" b="1" dirty="0">
                <a:solidFill>
                  <a:srgbClr val="1A1A1A"/>
                </a:solidFill>
              </a:rPr>
              <a:t>대출</a:t>
            </a:r>
            <a:r>
              <a:rPr lang="ko-KR" sz="800" b="0" dirty="0">
                <a:solidFill>
                  <a:srgbClr val="5A6B66"/>
                </a:solidFill>
              </a:rPr>
              <a:t>  (1개)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022561-69C3-2D49-825B-D62439C7F096}"/>
              </a:ext>
            </a:extLst>
          </p:cNvPr>
          <p:cNvSpPr txBox="1"/>
          <p:nvPr/>
        </p:nvSpPr>
        <p:spPr>
          <a:xfrm>
            <a:off x="2573898" y="3708400"/>
            <a:ext cx="14224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>
              <a:buNone/>
            </a:pPr>
            <a:r>
              <a:rPr lang="ko-KR" sz="950" b="1" dirty="0">
                <a:solidFill>
                  <a:srgbClr val="1A1A1A"/>
                </a:solidFill>
              </a:rPr>
              <a:t>-9,700,000원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6F5BAE0B-B00D-E54E-BA97-209F22ED4E80}"/>
              </a:ext>
            </a:extLst>
          </p:cNvPr>
          <p:cNvSpPr/>
          <p:nvPr/>
        </p:nvSpPr>
        <p:spPr>
          <a:xfrm>
            <a:off x="1496688" y="4216400"/>
            <a:ext cx="2652010" cy="812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900">
                <a:solidFill>
                  <a:srgbClr val="1A1A1A"/>
                </a:solidFill>
              </a:rPr>
              <a:t>수신 </a:t>
            </a:r>
            <a:r>
              <a:rPr lang="en-US" altLang="ko-KR" sz="900">
                <a:solidFill>
                  <a:srgbClr val="1A1A1A"/>
                </a:solidFill>
              </a:rPr>
              <a:t>15,320,000</a:t>
            </a:r>
            <a:r>
              <a:rPr lang="ko-KR" altLang="en-US" sz="900">
                <a:solidFill>
                  <a:srgbClr val="1A1A1A"/>
                </a:solidFill>
              </a:rPr>
              <a:t>원</a:t>
            </a:r>
            <a:r>
              <a:rPr lang="en-US" altLang="ko-KR" sz="900">
                <a:solidFill>
                  <a:srgbClr val="1A1A1A"/>
                </a:solidFill>
              </a:rPr>
              <a:t>, </a:t>
            </a:r>
            <a:r>
              <a:rPr lang="ko-KR" altLang="en-US" sz="900">
                <a:solidFill>
                  <a:srgbClr val="1A1A1A"/>
                </a:solidFill>
              </a:rPr>
              <a:t>외환 </a:t>
            </a:r>
            <a:r>
              <a:rPr lang="en-US" altLang="ko-KR" sz="900">
                <a:solidFill>
                  <a:srgbClr val="1A1A1A"/>
                </a:solidFill>
              </a:rPr>
              <a:t>1,687,500</a:t>
            </a:r>
            <a:r>
              <a:rPr lang="ko-KR" altLang="en-US" sz="900">
                <a:solidFill>
                  <a:srgbClr val="1A1A1A"/>
                </a:solidFill>
              </a:rPr>
              <a:t>원</a:t>
            </a:r>
            <a:r>
              <a:rPr lang="en-US" altLang="ko-KR" sz="900">
                <a:solidFill>
                  <a:srgbClr val="1A1A1A"/>
                </a:solidFill>
              </a:rPr>
              <a:t>, </a:t>
            </a:r>
            <a:r>
              <a:rPr lang="ko-KR" altLang="en-US" sz="900">
                <a:solidFill>
                  <a:srgbClr val="1A1A1A"/>
                </a:solidFill>
              </a:rPr>
              <a:t>투자 </a:t>
            </a:r>
            <a:r>
              <a:rPr lang="en-US" altLang="ko-KR" sz="900">
                <a:solidFill>
                  <a:srgbClr val="1A1A1A"/>
                </a:solidFill>
              </a:rPr>
              <a:t>10,950,000</a:t>
            </a:r>
            <a:r>
              <a:rPr lang="ko-KR" altLang="en-US" sz="900">
                <a:solidFill>
                  <a:srgbClr val="1A1A1A"/>
                </a:solidFill>
              </a:rPr>
              <a:t>원</a:t>
            </a:r>
            <a:r>
              <a:rPr lang="en-US" altLang="ko-KR" sz="900">
                <a:solidFill>
                  <a:srgbClr val="1A1A1A"/>
                </a:solidFill>
              </a:rPr>
              <a:t>, </a:t>
            </a:r>
            <a:r>
              <a:rPr lang="ko-KR" altLang="en-US" sz="900">
                <a:solidFill>
                  <a:srgbClr val="1A1A1A"/>
                </a:solidFill>
              </a:rPr>
              <a:t>대출 </a:t>
            </a:r>
            <a:r>
              <a:rPr lang="en-US" altLang="ko-KR" sz="900">
                <a:solidFill>
                  <a:srgbClr val="1A1A1A"/>
                </a:solidFill>
              </a:rPr>
              <a:t>-9,700,000</a:t>
            </a:r>
            <a:r>
              <a:rPr lang="ko-KR" altLang="en-US" sz="900">
                <a:solidFill>
                  <a:srgbClr val="1A1A1A"/>
                </a:solidFill>
              </a:rPr>
              <a:t>원으로 전체 순자산은 </a:t>
            </a:r>
            <a:r>
              <a:rPr lang="en-US" altLang="ko-KR" sz="900">
                <a:solidFill>
                  <a:srgbClr val="1A1A1A"/>
                </a:solidFill>
              </a:rPr>
              <a:t>18,257,500</a:t>
            </a:r>
            <a:r>
              <a:rPr lang="ko-KR" altLang="en-US" sz="900">
                <a:solidFill>
                  <a:srgbClr val="1A1A1A"/>
                </a:solidFill>
              </a:rPr>
              <a:t>원입니다</a:t>
            </a:r>
            <a:r>
              <a:rPr lang="en-US" altLang="ko-KR" sz="900">
                <a:solidFill>
                  <a:srgbClr val="1A1A1A"/>
                </a:solidFill>
              </a:rPr>
              <a:t>.</a:t>
            </a:r>
            <a:endParaRPr lang="ko-KR" altLang="en-US" sz="900">
              <a:solidFill>
                <a:srgbClr val="1A1A1A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544CFFC9-AF31-314D-819D-9198B3C0A913}"/>
              </a:ext>
            </a:extLst>
          </p:cNvPr>
          <p:cNvSpPr/>
          <p:nvPr/>
        </p:nvSpPr>
        <p:spPr>
          <a:xfrm>
            <a:off x="1481698" y="5096240"/>
            <a:ext cx="10668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750" dirty="0">
                <a:solidFill>
                  <a:srgbClr val="0FA97F"/>
                </a:solidFill>
              </a:rPr>
              <a:t>카테고리별 상세보기</a:t>
            </a: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AD6468EF-9256-5549-8CEE-7224A259CCF1}"/>
              </a:ext>
            </a:extLst>
          </p:cNvPr>
          <p:cNvSpPr/>
          <p:nvPr/>
        </p:nvSpPr>
        <p:spPr>
          <a:xfrm>
            <a:off x="2624698" y="5096240"/>
            <a:ext cx="8382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750">
                <a:solidFill>
                  <a:srgbClr val="0FA97F"/>
                </a:solidFill>
              </a:rPr>
              <a:t>자산 추이 보기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58BFB192-7D7A-AB41-8130-3C488EAAB2EC}"/>
              </a:ext>
            </a:extLst>
          </p:cNvPr>
          <p:cNvSpPr/>
          <p:nvPr/>
        </p:nvSpPr>
        <p:spPr>
          <a:xfrm>
            <a:off x="3539098" y="5096240"/>
            <a:ext cx="4318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750">
                <a:solidFill>
                  <a:srgbClr val="0FA97F"/>
                </a:solidFill>
              </a:rPr>
              <a:t>완료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5C09C2F-4A55-44CB-7487-09B588BA2E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1032762" y="1992443"/>
            <a:ext cx="449706" cy="44970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42EF060-43AE-244D-7FD6-7EB40B17DEBC}"/>
              </a:ext>
            </a:extLst>
          </p:cNvPr>
          <p:cNvSpPr txBox="1"/>
          <p:nvPr/>
        </p:nvSpPr>
        <p:spPr>
          <a:xfrm>
            <a:off x="96383" y="125239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</a:t>
            </a:r>
            <a:r>
              <a:rPr kumimoji="1" lang="ko-KR" altLang="en-US" dirty="0"/>
              <a:t>안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744D15D-5C0A-FD40-44A8-2DDFEFCFB6E1}"/>
              </a:ext>
            </a:extLst>
          </p:cNvPr>
          <p:cNvGrpSpPr/>
          <p:nvPr/>
        </p:nvGrpSpPr>
        <p:grpSpPr>
          <a:xfrm>
            <a:off x="4617694" y="-1"/>
            <a:ext cx="3563007" cy="6829731"/>
            <a:chOff x="505889" y="0"/>
            <a:chExt cx="3563007" cy="6858000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1230322E-8DDF-B536-A2C3-E322EEBDE27A}"/>
                </a:ext>
              </a:extLst>
            </p:cNvPr>
            <p:cNvGrpSpPr/>
            <p:nvPr/>
          </p:nvGrpSpPr>
          <p:grpSpPr>
            <a:xfrm>
              <a:off x="505889" y="0"/>
              <a:ext cx="3563007" cy="6858000"/>
              <a:chOff x="2532993" y="0"/>
              <a:chExt cx="3563007" cy="6858000"/>
            </a:xfrm>
          </p:grpSpPr>
          <p:pic>
            <p:nvPicPr>
              <p:cNvPr id="39" name="그림 38">
                <a:extLst>
                  <a:ext uri="{FF2B5EF4-FFF2-40B4-BE49-F238E27FC236}">
                    <a16:creationId xmlns:a16="http://schemas.microsoft.com/office/drawing/2014/main" id="{2DC7D584-7CAD-BF36-9B26-81BC84214A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32993" y="0"/>
                <a:ext cx="3563007" cy="6858000"/>
              </a:xfrm>
              <a:prstGeom prst="rect">
                <a:avLst/>
              </a:prstGeom>
            </p:spPr>
          </p:pic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E6A6FDB7-5764-1098-9759-2D640EB48319}"/>
                  </a:ext>
                </a:extLst>
              </p:cNvPr>
              <p:cNvSpPr/>
              <p:nvPr/>
            </p:nvSpPr>
            <p:spPr>
              <a:xfrm>
                <a:off x="2677100" y="958468"/>
                <a:ext cx="3294042" cy="4831574"/>
              </a:xfrm>
              <a:prstGeom prst="rect">
                <a:avLst/>
              </a:prstGeom>
              <a:solidFill>
                <a:srgbClr val="EEF8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</p:grp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183C1BC7-8E78-CC1A-9A2B-6D1CDD636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03" t="27104" r="82676" b="66338"/>
            <a:stretch>
              <a:fillRect/>
            </a:stretch>
          </p:blipFill>
          <p:spPr>
            <a:xfrm>
              <a:off x="694064" y="977900"/>
              <a:ext cx="449706" cy="449705"/>
            </a:xfrm>
            <a:prstGeom prst="rect">
              <a:avLst/>
            </a:prstGeom>
          </p:spPr>
        </p:pic>
        <p:sp>
          <p:nvSpPr>
            <p:cNvPr id="38" name="모서리가 둥근 직사각형 37">
              <a:extLst>
                <a:ext uri="{FF2B5EF4-FFF2-40B4-BE49-F238E27FC236}">
                  <a16:creationId xmlns:a16="http://schemas.microsoft.com/office/drawing/2014/main" id="{EB04CD07-D825-7AF4-64F5-57091A91FF16}"/>
                </a:ext>
              </a:extLst>
            </p:cNvPr>
            <p:cNvSpPr/>
            <p:nvPr/>
          </p:nvSpPr>
          <p:spPr>
            <a:xfrm>
              <a:off x="1143000" y="1066800"/>
              <a:ext cx="1676400" cy="431800"/>
            </a:xfrm>
            <a:prstGeom prst="round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pPr algn="l"/>
              <a:r>
                <a:rPr lang="ko-KR" altLang="en-US" sz="900" dirty="0">
                  <a:solidFill>
                    <a:srgbClr val="1A1A1A"/>
                  </a:solidFill>
                </a:rPr>
                <a:t>안녕하세요</a:t>
              </a:r>
              <a:r>
                <a:rPr lang="en-US" altLang="ko-KR" sz="900" dirty="0">
                  <a:solidFill>
                    <a:srgbClr val="1A1A1A"/>
                  </a:solidFill>
                </a:rPr>
                <a:t>, </a:t>
              </a:r>
              <a:r>
                <a:rPr lang="ko-KR" altLang="en-US" sz="900" dirty="0">
                  <a:solidFill>
                    <a:srgbClr val="1A1A1A"/>
                  </a:solidFill>
                </a:rPr>
                <a:t>고객님</a:t>
              </a:r>
              <a:r>
                <a:rPr lang="en-US" altLang="ko-KR" sz="900" dirty="0">
                  <a:solidFill>
                    <a:srgbClr val="1A1A1A"/>
                  </a:solidFill>
                </a:rPr>
                <a:t>.
</a:t>
              </a:r>
              <a:r>
                <a:rPr lang="ko-KR" altLang="en-US" sz="900" dirty="0">
                  <a:solidFill>
                    <a:srgbClr val="1A1A1A"/>
                  </a:solidFill>
                </a:rPr>
                <a:t>무엇을 도와드릴까요</a:t>
              </a:r>
              <a:r>
                <a:rPr lang="en-US" altLang="ko-KR" sz="900" dirty="0">
                  <a:solidFill>
                    <a:srgbClr val="1A1A1A"/>
                  </a:solidFill>
                </a:rPr>
                <a:t>?</a:t>
              </a:r>
              <a:endParaRPr lang="ko-KR" altLang="en-US" sz="900" dirty="0">
                <a:solidFill>
                  <a:srgbClr val="1A1A1A"/>
                </a:solidFill>
              </a:endParaRPr>
            </a:p>
          </p:txBody>
        </p:sp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id="{E1900DA9-BC34-E01C-0894-156BD0DB4F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1031336" y="4199744"/>
            <a:ext cx="449706" cy="449705"/>
          </a:xfrm>
          <a:prstGeom prst="rect">
            <a:avLst/>
          </a:prstGeom>
        </p:spPr>
      </p:pic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2CD086BE-523E-AD43-A1AF-4E321C69E4AA}"/>
              </a:ext>
            </a:extLst>
          </p:cNvPr>
          <p:cNvSpPr/>
          <p:nvPr/>
        </p:nvSpPr>
        <p:spPr>
          <a:xfrm>
            <a:off x="6755151" y="1574800"/>
            <a:ext cx="1168400" cy="304800"/>
          </a:xfrm>
          <a:prstGeom prst="roundRect">
            <a:avLst/>
          </a:prstGeom>
          <a:solidFill>
            <a:srgbClr val="BCE5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900">
                <a:solidFill>
                  <a:srgbClr val="1A1A1A"/>
                </a:solidFill>
              </a:rPr>
              <a:t>내 계좌 보여줘</a:t>
            </a:r>
            <a:r>
              <a:rPr lang="en-US" altLang="ko-KR" sz="900">
                <a:solidFill>
                  <a:srgbClr val="1A1A1A"/>
                </a:solidFill>
              </a:rPr>
              <a:t>.</a:t>
            </a:r>
            <a:endParaRPr lang="ko-KR" altLang="en-US" sz="900">
              <a:solidFill>
                <a:srgbClr val="1A1A1A"/>
              </a:solidFill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35EF7F8C-156E-8F49-ACEF-20ADD93FAD5A}"/>
              </a:ext>
            </a:extLst>
          </p:cNvPr>
          <p:cNvSpPr/>
          <p:nvPr/>
        </p:nvSpPr>
        <p:spPr>
          <a:xfrm>
            <a:off x="5256551" y="1981200"/>
            <a:ext cx="2260600" cy="457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900">
                <a:solidFill>
                  <a:srgbClr val="1A1A1A"/>
                </a:solidFill>
              </a:rPr>
              <a:t>네</a:t>
            </a:r>
            <a:r>
              <a:rPr lang="en-US" altLang="ko-KR" sz="900">
                <a:solidFill>
                  <a:srgbClr val="1A1A1A"/>
                </a:solidFill>
              </a:rPr>
              <a:t>, </a:t>
            </a:r>
            <a:r>
              <a:rPr lang="ko-KR" altLang="en-US" sz="900">
                <a:solidFill>
                  <a:srgbClr val="1A1A1A"/>
                </a:solidFill>
              </a:rPr>
              <a:t>고객님 명의로 등록된 계좌를 모두 안내해 드리겠습니다</a:t>
            </a:r>
            <a:r>
              <a:rPr lang="en-US" altLang="ko-KR" sz="900">
                <a:solidFill>
                  <a:srgbClr val="1A1A1A"/>
                </a:solidFill>
              </a:rPr>
              <a:t>.</a:t>
            </a:r>
            <a:endParaRPr lang="ko-KR" altLang="en-US" sz="900">
              <a:solidFill>
                <a:srgbClr val="1A1A1A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FDB89399-65DE-8D49-B30F-0B2545CF859E}"/>
              </a:ext>
            </a:extLst>
          </p:cNvPr>
          <p:cNvSpPr/>
          <p:nvPr/>
        </p:nvSpPr>
        <p:spPr>
          <a:xfrm>
            <a:off x="5139287" y="2641600"/>
            <a:ext cx="177800" cy="1778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9D6D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800" dirty="0">
                <a:solidFill>
                  <a:srgbClr val="5A6B66"/>
                </a:solidFill>
              </a:rPr>
              <a:t>–</a:t>
            </a:r>
            <a:endParaRPr lang="ko-KR" altLang="en-US" sz="800" dirty="0">
              <a:solidFill>
                <a:srgbClr val="5A6B66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8C136A-099B-6341-ABC6-1EC006F4C0E4}"/>
              </a:ext>
            </a:extLst>
          </p:cNvPr>
          <p:cNvSpPr txBox="1"/>
          <p:nvPr/>
        </p:nvSpPr>
        <p:spPr>
          <a:xfrm>
            <a:off x="5323786" y="2654300"/>
            <a:ext cx="1016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>
              <a:buNone/>
            </a:pPr>
            <a:r>
              <a:rPr lang="ko-KR" sz="950" b="1" dirty="0">
                <a:solidFill>
                  <a:srgbClr val="0B8A66"/>
                </a:solidFill>
              </a:rPr>
              <a:t>수신</a:t>
            </a:r>
            <a:r>
              <a:rPr lang="ko-KR" sz="800" b="0" dirty="0">
                <a:solidFill>
                  <a:srgbClr val="5A6B66"/>
                </a:solidFill>
              </a:rPr>
              <a:t>  (3개)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BCDCCB-9E0C-E34C-9156-6B3C03F99E19}"/>
              </a:ext>
            </a:extLst>
          </p:cNvPr>
          <p:cNvSpPr txBox="1"/>
          <p:nvPr/>
        </p:nvSpPr>
        <p:spPr>
          <a:xfrm>
            <a:off x="6348751" y="2654300"/>
            <a:ext cx="14224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50" b="1">
                <a:solidFill>
                  <a:srgbClr val="1A1A1A"/>
                </a:solidFill>
              </a:rPr>
              <a:t>15,320,000</a:t>
            </a:r>
            <a:r>
              <a:rPr lang="ko-KR" altLang="en-US" sz="950" b="1">
                <a:solidFill>
                  <a:srgbClr val="1A1A1A"/>
                </a:solidFill>
              </a:rPr>
              <a:t>원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DE0BADD-8E7D-954C-B376-37E827DDC1DF}"/>
              </a:ext>
            </a:extLst>
          </p:cNvPr>
          <p:cNvSpPr/>
          <p:nvPr/>
        </p:nvSpPr>
        <p:spPr>
          <a:xfrm>
            <a:off x="5002551" y="28956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CD758E-7CA6-724B-9B07-1874B5C697DC}"/>
              </a:ext>
            </a:extLst>
          </p:cNvPr>
          <p:cNvSpPr txBox="1"/>
          <p:nvPr/>
        </p:nvSpPr>
        <p:spPr>
          <a:xfrm>
            <a:off x="5205751" y="2946400"/>
            <a:ext cx="1016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" altLang="ko-KR" sz="850" b="1">
                <a:solidFill>
                  <a:srgbClr val="1A1A1A"/>
                </a:solidFill>
              </a:rPr>
              <a:t>iM </a:t>
            </a:r>
            <a:r>
              <a:rPr lang="ko-KR" altLang="en-US" sz="850" b="1">
                <a:solidFill>
                  <a:srgbClr val="1A1A1A"/>
                </a:solidFill>
              </a:rPr>
              <a:t>입출금통장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589337-E973-EC49-9F81-E00DA7294E2F}"/>
              </a:ext>
            </a:extLst>
          </p:cNvPr>
          <p:cNvSpPr txBox="1"/>
          <p:nvPr/>
        </p:nvSpPr>
        <p:spPr>
          <a:xfrm>
            <a:off x="6247151" y="2946400"/>
            <a:ext cx="1524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/>
            <a:r>
              <a:rPr lang="en-US" altLang="ko-KR" sz="850" b="1">
                <a:solidFill>
                  <a:srgbClr val="1A1A1A"/>
                </a:solidFill>
              </a:rPr>
              <a:t>3,245,600</a:t>
            </a:r>
            <a:r>
              <a:rPr lang="ko-KR" altLang="en-US" sz="850" b="1">
                <a:solidFill>
                  <a:srgbClr val="1A1A1A"/>
                </a:solidFill>
              </a:rPr>
              <a:t>원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CF2699-E1B3-7E47-BC0D-2C4F30B7574D}"/>
              </a:ext>
            </a:extLst>
          </p:cNvPr>
          <p:cNvSpPr txBox="1"/>
          <p:nvPr/>
        </p:nvSpPr>
        <p:spPr>
          <a:xfrm>
            <a:off x="5205751" y="3098800"/>
            <a:ext cx="1905000" cy="139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750">
                <a:solidFill>
                  <a:srgbClr val="5A6B66"/>
                </a:solidFill>
              </a:rPr>
              <a:t>수시입출금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00C8CE-1526-7240-BB84-262BAC824C11}"/>
              </a:ext>
            </a:extLst>
          </p:cNvPr>
          <p:cNvSpPr txBox="1"/>
          <p:nvPr/>
        </p:nvSpPr>
        <p:spPr>
          <a:xfrm>
            <a:off x="5205751" y="3302000"/>
            <a:ext cx="1016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" altLang="ko-KR" sz="850" b="1">
                <a:solidFill>
                  <a:srgbClr val="1A1A1A"/>
                </a:solidFill>
              </a:rPr>
              <a:t>iM </a:t>
            </a:r>
            <a:r>
              <a:rPr lang="ko-KR" altLang="en-US" sz="850" b="1">
                <a:solidFill>
                  <a:srgbClr val="1A1A1A"/>
                </a:solidFill>
              </a:rPr>
              <a:t>정기예금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087A52-EFDB-794D-AEBE-CD1AFD87B7CA}"/>
              </a:ext>
            </a:extLst>
          </p:cNvPr>
          <p:cNvSpPr txBox="1"/>
          <p:nvPr/>
        </p:nvSpPr>
        <p:spPr>
          <a:xfrm>
            <a:off x="6247151" y="3302000"/>
            <a:ext cx="1524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/>
            <a:r>
              <a:rPr lang="en-US" altLang="ko-KR" sz="850" b="1">
                <a:solidFill>
                  <a:srgbClr val="1A1A1A"/>
                </a:solidFill>
              </a:rPr>
              <a:t>10,000,000</a:t>
            </a:r>
            <a:r>
              <a:rPr lang="ko-KR" altLang="en-US" sz="850" b="1">
                <a:solidFill>
                  <a:srgbClr val="1A1A1A"/>
                </a:solidFill>
              </a:rPr>
              <a:t>원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2E7EA7-EDCF-CD47-B792-2534EF0940E1}"/>
              </a:ext>
            </a:extLst>
          </p:cNvPr>
          <p:cNvSpPr txBox="1"/>
          <p:nvPr/>
        </p:nvSpPr>
        <p:spPr>
          <a:xfrm>
            <a:off x="5205751" y="3454400"/>
            <a:ext cx="1905000" cy="139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750">
                <a:solidFill>
                  <a:srgbClr val="5A6B66"/>
                </a:solidFill>
              </a:rPr>
              <a:t>12</a:t>
            </a:r>
            <a:r>
              <a:rPr lang="ko-KR" altLang="en-US" sz="750">
                <a:solidFill>
                  <a:srgbClr val="5A6B66"/>
                </a:solidFill>
              </a:rPr>
              <a:t>개월 만기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C9CA67-1A6E-0F44-B80F-7AB5AB056B10}"/>
              </a:ext>
            </a:extLst>
          </p:cNvPr>
          <p:cNvSpPr txBox="1"/>
          <p:nvPr/>
        </p:nvSpPr>
        <p:spPr>
          <a:xfrm>
            <a:off x="5205751" y="3657600"/>
            <a:ext cx="1016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" altLang="ko-KR" sz="850" b="1">
                <a:solidFill>
                  <a:srgbClr val="1A1A1A"/>
                </a:solidFill>
              </a:rPr>
              <a:t>iM </a:t>
            </a:r>
            <a:r>
              <a:rPr lang="ko-KR" altLang="en-US" sz="850" b="1">
                <a:solidFill>
                  <a:srgbClr val="1A1A1A"/>
                </a:solidFill>
              </a:rPr>
              <a:t>자유적금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ADED2C5-4183-7B42-82E1-619F60396703}"/>
              </a:ext>
            </a:extLst>
          </p:cNvPr>
          <p:cNvSpPr txBox="1"/>
          <p:nvPr/>
        </p:nvSpPr>
        <p:spPr>
          <a:xfrm>
            <a:off x="6247151" y="3657600"/>
            <a:ext cx="1524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/>
            <a:r>
              <a:rPr lang="en-US" altLang="ko-KR" sz="850" b="1">
                <a:solidFill>
                  <a:srgbClr val="1A1A1A"/>
                </a:solidFill>
              </a:rPr>
              <a:t>2,074,400</a:t>
            </a:r>
            <a:r>
              <a:rPr lang="ko-KR" altLang="en-US" sz="850" b="1">
                <a:solidFill>
                  <a:srgbClr val="1A1A1A"/>
                </a:solidFill>
              </a:rPr>
              <a:t>원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4E686D-FC0A-DF42-92AB-6328B31BD692}"/>
              </a:ext>
            </a:extLst>
          </p:cNvPr>
          <p:cNvSpPr txBox="1"/>
          <p:nvPr/>
        </p:nvSpPr>
        <p:spPr>
          <a:xfrm>
            <a:off x="5205751" y="3810000"/>
            <a:ext cx="1905000" cy="139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750">
                <a:solidFill>
                  <a:srgbClr val="5A6B66"/>
                </a:solidFill>
              </a:rPr>
              <a:t>24</a:t>
            </a:r>
            <a:r>
              <a:rPr lang="ko-KR" altLang="en-US" sz="750">
                <a:solidFill>
                  <a:srgbClr val="5A6B66"/>
                </a:solidFill>
              </a:rPr>
              <a:t>개월 납입중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19D7514F-2EB4-0942-B25F-94A1161724F1}"/>
              </a:ext>
            </a:extLst>
          </p:cNvPr>
          <p:cNvSpPr/>
          <p:nvPr/>
        </p:nvSpPr>
        <p:spPr>
          <a:xfrm>
            <a:off x="5002551" y="40132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D3B5AAF8-41B0-714C-9C61-2895E0E074DF}"/>
              </a:ext>
            </a:extLst>
          </p:cNvPr>
          <p:cNvSpPr/>
          <p:nvPr/>
        </p:nvSpPr>
        <p:spPr>
          <a:xfrm>
            <a:off x="5139287" y="4089400"/>
            <a:ext cx="177800" cy="1778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9D6D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800">
                <a:solidFill>
                  <a:srgbClr val="5A6B66"/>
                </a:solidFill>
              </a:rPr>
              <a:t>–</a:t>
            </a:r>
            <a:endParaRPr lang="ko-KR" altLang="en-US" sz="800">
              <a:solidFill>
                <a:srgbClr val="5A6B66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A7AA99-4932-F549-B57D-A665600ACAC1}"/>
              </a:ext>
            </a:extLst>
          </p:cNvPr>
          <p:cNvSpPr txBox="1"/>
          <p:nvPr/>
        </p:nvSpPr>
        <p:spPr>
          <a:xfrm>
            <a:off x="5323786" y="4102100"/>
            <a:ext cx="1016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>
              <a:buNone/>
            </a:pPr>
            <a:r>
              <a:rPr lang="ko-KR" sz="950" b="1" dirty="0">
                <a:solidFill>
                  <a:srgbClr val="0B8A66"/>
                </a:solidFill>
              </a:rPr>
              <a:t>외환</a:t>
            </a:r>
            <a:r>
              <a:rPr lang="ko-KR" sz="800" b="0" dirty="0">
                <a:solidFill>
                  <a:srgbClr val="5A6B66"/>
                </a:solidFill>
              </a:rPr>
              <a:t>  (1개)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68EED5-79EB-3C40-ACBC-A2B8548ABD53}"/>
              </a:ext>
            </a:extLst>
          </p:cNvPr>
          <p:cNvSpPr txBox="1"/>
          <p:nvPr/>
        </p:nvSpPr>
        <p:spPr>
          <a:xfrm>
            <a:off x="6348751" y="4102100"/>
            <a:ext cx="14224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50" b="1">
                <a:solidFill>
                  <a:srgbClr val="1A1A1A"/>
                </a:solidFill>
              </a:rPr>
              <a:t>1,687,500</a:t>
            </a:r>
            <a:r>
              <a:rPr lang="ko-KR" altLang="en-US" sz="950" b="1">
                <a:solidFill>
                  <a:srgbClr val="1A1A1A"/>
                </a:solidFill>
              </a:rPr>
              <a:t>원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EB1FA61-53EE-6B48-B8C5-AB0DD416FF1D}"/>
              </a:ext>
            </a:extLst>
          </p:cNvPr>
          <p:cNvSpPr/>
          <p:nvPr/>
        </p:nvSpPr>
        <p:spPr>
          <a:xfrm>
            <a:off x="5002551" y="43434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9DB320-B678-A04C-B23D-9B8FBDB0EC50}"/>
              </a:ext>
            </a:extLst>
          </p:cNvPr>
          <p:cNvSpPr txBox="1"/>
          <p:nvPr/>
        </p:nvSpPr>
        <p:spPr>
          <a:xfrm>
            <a:off x="5205751" y="4394200"/>
            <a:ext cx="1016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" altLang="ko-KR" sz="850" b="1">
                <a:solidFill>
                  <a:srgbClr val="1A1A1A"/>
                </a:solidFill>
              </a:rPr>
              <a:t>iM </a:t>
            </a:r>
            <a:r>
              <a:rPr lang="ko-KR" altLang="en-US" sz="850" b="1">
                <a:solidFill>
                  <a:srgbClr val="1A1A1A"/>
                </a:solidFill>
              </a:rPr>
              <a:t>외화통장 </a:t>
            </a:r>
            <a:r>
              <a:rPr lang="en-US" altLang="ko-KR" sz="850" b="1">
                <a:solidFill>
                  <a:srgbClr val="1A1A1A"/>
                </a:solidFill>
              </a:rPr>
              <a:t>(</a:t>
            </a:r>
            <a:r>
              <a:rPr lang="en" altLang="ko-KR" sz="850" b="1">
                <a:solidFill>
                  <a:srgbClr val="1A1A1A"/>
                </a:solidFill>
              </a:rPr>
              <a:t>USD)</a:t>
            </a:r>
            <a:endParaRPr lang="ko-KR" altLang="en-US" sz="850" b="1">
              <a:solidFill>
                <a:srgbClr val="1A1A1A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9B15149-EDCD-4D47-8602-4F6151090C34}"/>
              </a:ext>
            </a:extLst>
          </p:cNvPr>
          <p:cNvSpPr txBox="1"/>
          <p:nvPr/>
        </p:nvSpPr>
        <p:spPr>
          <a:xfrm>
            <a:off x="6247151" y="4394200"/>
            <a:ext cx="1524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/>
            <a:r>
              <a:rPr lang="en-US" altLang="ko-KR" sz="850" b="1">
                <a:solidFill>
                  <a:srgbClr val="1A1A1A"/>
                </a:solidFill>
              </a:rPr>
              <a:t>$1,250.00</a:t>
            </a:r>
            <a:endParaRPr lang="ko-KR" altLang="en-US" sz="850" b="1">
              <a:solidFill>
                <a:srgbClr val="1A1A1A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79AEAA-F4FA-5C4C-9C26-419183C30DFA}"/>
              </a:ext>
            </a:extLst>
          </p:cNvPr>
          <p:cNvSpPr txBox="1"/>
          <p:nvPr/>
        </p:nvSpPr>
        <p:spPr>
          <a:xfrm>
            <a:off x="5205751" y="4546600"/>
            <a:ext cx="1905000" cy="139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750">
                <a:solidFill>
                  <a:srgbClr val="5A6B66"/>
                </a:solidFill>
              </a:rPr>
              <a:t>환율 </a:t>
            </a:r>
            <a:r>
              <a:rPr lang="en-US" altLang="ko-KR" sz="750">
                <a:solidFill>
                  <a:srgbClr val="5A6B66"/>
                </a:solidFill>
              </a:rPr>
              <a:t>1,350</a:t>
            </a:r>
            <a:r>
              <a:rPr lang="ko-KR" altLang="en-US" sz="750">
                <a:solidFill>
                  <a:srgbClr val="5A6B66"/>
                </a:solidFill>
              </a:rPr>
              <a:t>원 기준 </a:t>
            </a:r>
            <a:r>
              <a:rPr lang="en-US" altLang="ko-KR" sz="750">
                <a:solidFill>
                  <a:srgbClr val="5A6B66"/>
                </a:solidFill>
              </a:rPr>
              <a:t>· </a:t>
            </a:r>
            <a:r>
              <a:rPr lang="ko-KR" altLang="en-US" sz="750">
                <a:solidFill>
                  <a:srgbClr val="5A6B66"/>
                </a:solidFill>
              </a:rPr>
              <a:t>약 </a:t>
            </a:r>
            <a:r>
              <a:rPr lang="en-US" altLang="ko-KR" sz="750">
                <a:solidFill>
                  <a:srgbClr val="5A6B66"/>
                </a:solidFill>
              </a:rPr>
              <a:t>1,687,500</a:t>
            </a:r>
            <a:r>
              <a:rPr lang="ko-KR" altLang="en-US" sz="750">
                <a:solidFill>
                  <a:srgbClr val="5A6B66"/>
                </a:solidFill>
              </a:rPr>
              <a:t>원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8B563FC-E3DD-D54A-873C-7E4CCD204A26}"/>
              </a:ext>
            </a:extLst>
          </p:cNvPr>
          <p:cNvSpPr/>
          <p:nvPr/>
        </p:nvSpPr>
        <p:spPr>
          <a:xfrm>
            <a:off x="5002551" y="47752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7" name="모서리가 둥근 직사각형 66">
            <a:extLst>
              <a:ext uri="{FF2B5EF4-FFF2-40B4-BE49-F238E27FC236}">
                <a16:creationId xmlns:a16="http://schemas.microsoft.com/office/drawing/2014/main" id="{6163E8FD-2852-3C45-97B1-24132B794607}"/>
              </a:ext>
            </a:extLst>
          </p:cNvPr>
          <p:cNvSpPr/>
          <p:nvPr/>
        </p:nvSpPr>
        <p:spPr>
          <a:xfrm>
            <a:off x="5139287" y="4851400"/>
            <a:ext cx="177800" cy="1778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9D6D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800">
                <a:solidFill>
                  <a:srgbClr val="5A6B66"/>
                </a:solidFill>
              </a:rPr>
              <a:t>+</a:t>
            </a:r>
            <a:endParaRPr lang="ko-KR" altLang="en-US" sz="800">
              <a:solidFill>
                <a:srgbClr val="5A6B66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9F07F2C-365E-6644-8E86-78FC2B80C8A1}"/>
              </a:ext>
            </a:extLst>
          </p:cNvPr>
          <p:cNvSpPr txBox="1"/>
          <p:nvPr/>
        </p:nvSpPr>
        <p:spPr>
          <a:xfrm>
            <a:off x="5323786" y="4864100"/>
            <a:ext cx="1016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>
              <a:buNone/>
            </a:pPr>
            <a:r>
              <a:rPr lang="ko-KR" sz="950" b="1" dirty="0">
                <a:solidFill>
                  <a:srgbClr val="1A1A1A"/>
                </a:solidFill>
              </a:rPr>
              <a:t>투자</a:t>
            </a:r>
            <a:r>
              <a:rPr lang="ko-KR" sz="800" b="0" dirty="0">
                <a:solidFill>
                  <a:srgbClr val="5A6B66"/>
                </a:solidFill>
              </a:rPr>
              <a:t>  (2개)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5268A9E-E26C-EE46-892C-70E0F74B522B}"/>
              </a:ext>
            </a:extLst>
          </p:cNvPr>
          <p:cNvSpPr txBox="1"/>
          <p:nvPr/>
        </p:nvSpPr>
        <p:spPr>
          <a:xfrm>
            <a:off x="6348751" y="4864100"/>
            <a:ext cx="14224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50" b="1">
                <a:solidFill>
                  <a:srgbClr val="1A1A1A"/>
                </a:solidFill>
              </a:rPr>
              <a:t>10,950,000</a:t>
            </a:r>
            <a:r>
              <a:rPr lang="ko-KR" altLang="en-US" sz="950" b="1">
                <a:solidFill>
                  <a:srgbClr val="1A1A1A"/>
                </a:solidFill>
              </a:rPr>
              <a:t>원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2A75536-C43C-6D48-8778-1CE7A2800551}"/>
              </a:ext>
            </a:extLst>
          </p:cNvPr>
          <p:cNvSpPr/>
          <p:nvPr/>
        </p:nvSpPr>
        <p:spPr>
          <a:xfrm>
            <a:off x="5002551" y="51054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1" name="모서리가 둥근 직사각형 70">
            <a:extLst>
              <a:ext uri="{FF2B5EF4-FFF2-40B4-BE49-F238E27FC236}">
                <a16:creationId xmlns:a16="http://schemas.microsoft.com/office/drawing/2014/main" id="{461FD22B-D8EA-AA46-AFCF-267E4765CC03}"/>
              </a:ext>
            </a:extLst>
          </p:cNvPr>
          <p:cNvSpPr/>
          <p:nvPr/>
        </p:nvSpPr>
        <p:spPr>
          <a:xfrm>
            <a:off x="5139287" y="5181600"/>
            <a:ext cx="177800" cy="1778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9D6D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800">
                <a:solidFill>
                  <a:srgbClr val="5A6B66"/>
                </a:solidFill>
              </a:rPr>
              <a:t>+</a:t>
            </a:r>
            <a:endParaRPr lang="ko-KR" altLang="en-US" sz="800">
              <a:solidFill>
                <a:srgbClr val="5A6B66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F63F135-29D7-EB49-A416-FB00376F215E}"/>
              </a:ext>
            </a:extLst>
          </p:cNvPr>
          <p:cNvSpPr txBox="1"/>
          <p:nvPr/>
        </p:nvSpPr>
        <p:spPr>
          <a:xfrm>
            <a:off x="5323786" y="5194300"/>
            <a:ext cx="1016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>
              <a:buNone/>
            </a:pPr>
            <a:r>
              <a:rPr lang="ko-KR" sz="950" b="1" dirty="0">
                <a:solidFill>
                  <a:srgbClr val="1A1A1A"/>
                </a:solidFill>
              </a:rPr>
              <a:t>대출</a:t>
            </a:r>
            <a:r>
              <a:rPr lang="ko-KR" sz="800" b="0" dirty="0">
                <a:solidFill>
                  <a:srgbClr val="5A6B66"/>
                </a:solidFill>
              </a:rPr>
              <a:t>  (1개)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DB963F1-2004-764C-8CB5-56E2997A48E9}"/>
              </a:ext>
            </a:extLst>
          </p:cNvPr>
          <p:cNvSpPr txBox="1"/>
          <p:nvPr/>
        </p:nvSpPr>
        <p:spPr>
          <a:xfrm>
            <a:off x="6348751" y="5194300"/>
            <a:ext cx="14224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50" b="1">
                <a:solidFill>
                  <a:srgbClr val="1A1A1A"/>
                </a:solidFill>
              </a:rPr>
              <a:t>-9,700,000</a:t>
            </a:r>
            <a:r>
              <a:rPr lang="ko-KR" altLang="en-US" sz="950" b="1">
                <a:solidFill>
                  <a:srgbClr val="1A1A1A"/>
                </a:solidFill>
              </a:rPr>
              <a:t>원</a:t>
            </a:r>
          </a:p>
        </p:txBody>
      </p:sp>
      <p:pic>
        <p:nvPicPr>
          <p:cNvPr id="74" name="Copied Picture 74">
            <a:extLst>
              <a:ext uri="{FF2B5EF4-FFF2-40B4-BE49-F238E27FC236}">
                <a16:creationId xmlns:a16="http://schemas.microsoft.com/office/drawing/2014/main" id="{45C09C2F-4A55-44CB-7487-09B588BA2E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4799351" y="1993900"/>
            <a:ext cx="444500" cy="444500"/>
          </a:xfrm>
          <a:prstGeom prst="rect">
            <a:avLst/>
          </a:prstGeom>
        </p:spPr>
      </p:pic>
      <p:sp>
        <p:nvSpPr>
          <p:cNvPr id="33" name="액자 32">
            <a:extLst>
              <a:ext uri="{FF2B5EF4-FFF2-40B4-BE49-F238E27FC236}">
                <a16:creationId xmlns:a16="http://schemas.microsoft.com/office/drawing/2014/main" id="{15527BAA-7D8C-217B-02F7-04A208BA9F26}"/>
              </a:ext>
            </a:extLst>
          </p:cNvPr>
          <p:cNvSpPr/>
          <p:nvPr/>
        </p:nvSpPr>
        <p:spPr>
          <a:xfrm>
            <a:off x="1445232" y="5069121"/>
            <a:ext cx="1143656" cy="330200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705B9BA-4E9A-3D45-911B-4B4C54723634}"/>
              </a:ext>
            </a:extLst>
          </p:cNvPr>
          <p:cNvSpPr/>
          <p:nvPr/>
        </p:nvSpPr>
        <p:spPr>
          <a:xfrm>
            <a:off x="5002551" y="2997200"/>
            <a:ext cx="44450" cy="914400"/>
          </a:xfrm>
          <a:prstGeom prst="rect">
            <a:avLst/>
          </a:prstGeom>
          <a:solidFill>
            <a:srgbClr val="0FA97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2CC03BE-DAAB-1E49-A772-44E9A4E81D5D}"/>
              </a:ext>
            </a:extLst>
          </p:cNvPr>
          <p:cNvSpPr/>
          <p:nvPr/>
        </p:nvSpPr>
        <p:spPr>
          <a:xfrm>
            <a:off x="5002551" y="4445000"/>
            <a:ext cx="44450" cy="228600"/>
          </a:xfrm>
          <a:prstGeom prst="rect">
            <a:avLst/>
          </a:prstGeom>
          <a:solidFill>
            <a:srgbClr val="0FA97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8" name="액자 77">
            <a:extLst>
              <a:ext uri="{FF2B5EF4-FFF2-40B4-BE49-F238E27FC236}">
                <a16:creationId xmlns:a16="http://schemas.microsoft.com/office/drawing/2014/main" id="{1E8F5493-5093-9808-8344-8A698F55C75B}"/>
              </a:ext>
            </a:extLst>
          </p:cNvPr>
          <p:cNvSpPr/>
          <p:nvPr/>
        </p:nvSpPr>
        <p:spPr>
          <a:xfrm>
            <a:off x="1166161" y="2642732"/>
            <a:ext cx="289136" cy="293258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C0B2009-4478-307B-340A-D0381F235FE2}"/>
              </a:ext>
            </a:extLst>
          </p:cNvPr>
          <p:cNvSpPr/>
          <p:nvPr/>
        </p:nvSpPr>
        <p:spPr>
          <a:xfrm>
            <a:off x="773841" y="2642732"/>
            <a:ext cx="392319" cy="19165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800" dirty="0"/>
              <a:t>선택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C2B85A-C315-A78E-54B9-F0AA4820C758}"/>
              </a:ext>
            </a:extLst>
          </p:cNvPr>
          <p:cNvSpPr txBox="1"/>
          <p:nvPr/>
        </p:nvSpPr>
        <p:spPr>
          <a:xfrm>
            <a:off x="476657" y="2560559"/>
            <a:ext cx="32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A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58F707-B1E2-53F5-EB48-281C027AD4F6}"/>
              </a:ext>
            </a:extLst>
          </p:cNvPr>
          <p:cNvSpPr txBox="1"/>
          <p:nvPr/>
        </p:nvSpPr>
        <p:spPr>
          <a:xfrm>
            <a:off x="4631295" y="2880141"/>
            <a:ext cx="32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A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81" name="액자 80">
            <a:extLst>
              <a:ext uri="{FF2B5EF4-FFF2-40B4-BE49-F238E27FC236}">
                <a16:creationId xmlns:a16="http://schemas.microsoft.com/office/drawing/2014/main" id="{387D6D4A-23E0-1B7B-5636-8E03937F2CFB}"/>
              </a:ext>
            </a:extLst>
          </p:cNvPr>
          <p:cNvSpPr/>
          <p:nvPr/>
        </p:nvSpPr>
        <p:spPr>
          <a:xfrm>
            <a:off x="1168661" y="2981324"/>
            <a:ext cx="297184" cy="293907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280AD0B7-071D-C81E-628B-0418C6421EF4}"/>
              </a:ext>
            </a:extLst>
          </p:cNvPr>
          <p:cNvSpPr/>
          <p:nvPr/>
        </p:nvSpPr>
        <p:spPr>
          <a:xfrm>
            <a:off x="776341" y="2990002"/>
            <a:ext cx="392319" cy="19165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800" dirty="0"/>
              <a:t>선택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0325156-790F-C021-7EA3-B8F49F8678CD}"/>
              </a:ext>
            </a:extLst>
          </p:cNvPr>
          <p:cNvSpPr txBox="1"/>
          <p:nvPr/>
        </p:nvSpPr>
        <p:spPr>
          <a:xfrm>
            <a:off x="479157" y="2907829"/>
            <a:ext cx="32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A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31E1ED9-EA2E-EFDA-0751-49983932B992}"/>
              </a:ext>
            </a:extLst>
          </p:cNvPr>
          <p:cNvSpPr txBox="1"/>
          <p:nvPr/>
        </p:nvSpPr>
        <p:spPr>
          <a:xfrm>
            <a:off x="4634459" y="4333875"/>
            <a:ext cx="32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A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B3C3083-3E17-C4B3-ACCC-63D69A547A52}"/>
              </a:ext>
            </a:extLst>
          </p:cNvPr>
          <p:cNvSpPr txBox="1"/>
          <p:nvPr/>
        </p:nvSpPr>
        <p:spPr>
          <a:xfrm>
            <a:off x="1125514" y="5038574"/>
            <a:ext cx="32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B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8D88CA7-B964-0CB9-6466-DDF847463584}"/>
              </a:ext>
            </a:extLst>
          </p:cNvPr>
          <p:cNvSpPr txBox="1"/>
          <p:nvPr/>
        </p:nvSpPr>
        <p:spPr>
          <a:xfrm>
            <a:off x="8408479" y="1048066"/>
            <a:ext cx="32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B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37FC5FEE-7C99-46A5-6761-801B54EB804A}"/>
              </a:ext>
            </a:extLst>
          </p:cNvPr>
          <p:cNvSpPr/>
          <p:nvPr/>
        </p:nvSpPr>
        <p:spPr>
          <a:xfrm>
            <a:off x="8753253" y="1083872"/>
            <a:ext cx="2908092" cy="4436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 err="1"/>
              <a:t>딥링크</a:t>
            </a:r>
            <a:endParaRPr kumimoji="1" lang="ko-KR" alt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C224CA7-BCD8-FA68-175D-622B727176E9}"/>
              </a:ext>
            </a:extLst>
          </p:cNvPr>
          <p:cNvSpPr txBox="1"/>
          <p:nvPr/>
        </p:nvSpPr>
        <p:spPr>
          <a:xfrm>
            <a:off x="-1248" y="-44699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대표 시나리오</a:t>
            </a:r>
          </a:p>
        </p:txBody>
      </p:sp>
    </p:spTree>
    <p:extLst>
      <p:ext uri="{BB962C8B-B14F-4D97-AF65-F5344CB8AC3E}">
        <p14:creationId xmlns:p14="http://schemas.microsoft.com/office/powerpoint/2010/main" val="2820161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9FB32F2-791B-9677-3E74-B1991B4E644E}"/>
              </a:ext>
            </a:extLst>
          </p:cNvPr>
          <p:cNvGrpSpPr/>
          <p:nvPr/>
        </p:nvGrpSpPr>
        <p:grpSpPr>
          <a:xfrm>
            <a:off x="511800" y="1"/>
            <a:ext cx="3563007" cy="6858000"/>
            <a:chOff x="2532993" y="0"/>
            <a:chExt cx="3563007" cy="6858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383B4FC-4615-1303-04B1-E21D0D58C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2993" y="0"/>
              <a:ext cx="3563007" cy="685800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DB09602-06DA-7BBF-DCD8-A4F55C758A01}"/>
                </a:ext>
              </a:extLst>
            </p:cNvPr>
            <p:cNvSpPr/>
            <p:nvPr/>
          </p:nvSpPr>
          <p:spPr>
            <a:xfrm>
              <a:off x="2677100" y="958468"/>
              <a:ext cx="3294042" cy="4831574"/>
            </a:xfrm>
            <a:prstGeom prst="rect">
              <a:avLst/>
            </a:prstGeom>
            <a:solidFill>
              <a:srgbClr val="EEF8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DFCB62C7-17D3-909A-5D36-74DA843FA6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699975" y="977901"/>
            <a:ext cx="449706" cy="449705"/>
          </a:xfrm>
          <a:prstGeom prst="rect">
            <a:avLst/>
          </a:prstGeom>
        </p:spPr>
      </p:pic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469CB3B-FA99-8867-F31C-A81D5BA32BBF}"/>
              </a:ext>
            </a:extLst>
          </p:cNvPr>
          <p:cNvSpPr/>
          <p:nvPr/>
        </p:nvSpPr>
        <p:spPr>
          <a:xfrm>
            <a:off x="1148911" y="2082801"/>
            <a:ext cx="2260600" cy="609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sz="900">
                <a:solidFill>
                  <a:srgbClr val="1A1A1A"/>
                </a:solidFill>
              </a:rPr>
              <a:t>네</a:t>
            </a:r>
            <a:r>
              <a:rPr kumimoji="1" lang="en-US" altLang="ko-KR" sz="900">
                <a:solidFill>
                  <a:srgbClr val="1A1A1A"/>
                </a:solidFill>
              </a:rPr>
              <a:t>, </a:t>
            </a:r>
            <a:r>
              <a:rPr kumimoji="1" lang="ko-KR" altLang="en-US" sz="900">
                <a:solidFill>
                  <a:srgbClr val="1A1A1A"/>
                </a:solidFill>
              </a:rPr>
              <a:t>오픈뱅킹으로 등록하신 타행 계좌까지 함께 안내해 드리겠습니다</a:t>
            </a:r>
            <a:r>
              <a:rPr kumimoji="1" lang="en-US" altLang="ko-KR" sz="900">
                <a:solidFill>
                  <a:srgbClr val="1A1A1A"/>
                </a:solidFill>
              </a:rPr>
              <a:t>.</a:t>
            </a:r>
            <a:endParaRPr kumimoji="1" lang="ko-KR" altLang="en-US" sz="900" dirty="0">
              <a:solidFill>
                <a:srgbClr val="1A1A1A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CE617B5-9D72-8688-61DE-A86CE1CDFE62}"/>
              </a:ext>
            </a:extLst>
          </p:cNvPr>
          <p:cNvSpPr/>
          <p:nvPr/>
        </p:nvSpPr>
        <p:spPr>
          <a:xfrm>
            <a:off x="1936311" y="1574801"/>
            <a:ext cx="1879600" cy="431800"/>
          </a:xfrm>
          <a:prstGeom prst="roundRect">
            <a:avLst/>
          </a:prstGeom>
          <a:solidFill>
            <a:srgbClr val="BCE5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sz="900" dirty="0">
                <a:solidFill>
                  <a:srgbClr val="1A1A1A"/>
                </a:solidFill>
              </a:rPr>
              <a:t>다른 은행 계좌도 한번에 확인할 수 있어</a:t>
            </a:r>
            <a:r>
              <a:rPr kumimoji="1" lang="en-US" altLang="ko-KR" sz="900" dirty="0">
                <a:solidFill>
                  <a:srgbClr val="1A1A1A"/>
                </a:solidFill>
              </a:rPr>
              <a:t>?</a:t>
            </a:r>
            <a:endParaRPr kumimoji="1" lang="ko-KR" altLang="en-US" sz="900" dirty="0">
              <a:solidFill>
                <a:srgbClr val="1A1A1A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922ADACD-95DF-5CFA-F692-9DDEFA5511A3}"/>
              </a:ext>
            </a:extLst>
          </p:cNvPr>
          <p:cNvSpPr/>
          <p:nvPr/>
        </p:nvSpPr>
        <p:spPr>
          <a:xfrm>
            <a:off x="1148911" y="1066801"/>
            <a:ext cx="1676400" cy="431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900">
                <a:solidFill>
                  <a:srgbClr val="1A1A1A"/>
                </a:solidFill>
              </a:rPr>
              <a:t>안녕하세요</a:t>
            </a:r>
            <a:r>
              <a:rPr lang="en-US" altLang="ko-KR" sz="900">
                <a:solidFill>
                  <a:srgbClr val="1A1A1A"/>
                </a:solidFill>
              </a:rPr>
              <a:t>, </a:t>
            </a:r>
            <a:r>
              <a:rPr lang="ko-KR" altLang="en-US" sz="900">
                <a:solidFill>
                  <a:srgbClr val="1A1A1A"/>
                </a:solidFill>
              </a:rPr>
              <a:t>고객님</a:t>
            </a:r>
            <a:r>
              <a:rPr lang="en-US" altLang="ko-KR" sz="900">
                <a:solidFill>
                  <a:srgbClr val="1A1A1A"/>
                </a:solidFill>
              </a:rPr>
              <a:t>.
</a:t>
            </a:r>
            <a:r>
              <a:rPr lang="ko-KR" altLang="en-US" sz="900">
                <a:solidFill>
                  <a:srgbClr val="1A1A1A"/>
                </a:solidFill>
              </a:rPr>
              <a:t>무엇을 도와드릴까요</a:t>
            </a:r>
            <a:r>
              <a:rPr lang="en-US" altLang="ko-KR" sz="900">
                <a:solidFill>
                  <a:srgbClr val="1A1A1A"/>
                </a:solidFill>
              </a:rPr>
              <a:t>?</a:t>
            </a:r>
            <a:endParaRPr lang="ko-KR" altLang="en-US" sz="900">
              <a:solidFill>
                <a:srgbClr val="1A1A1A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8063ADA-8F47-6041-F895-FAF9F5118BDC}"/>
              </a:ext>
            </a:extLst>
          </p:cNvPr>
          <p:cNvSpPr/>
          <p:nvPr/>
        </p:nvSpPr>
        <p:spPr>
          <a:xfrm>
            <a:off x="742511" y="2768601"/>
            <a:ext cx="3073400" cy="17399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E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694E6E-8A63-18D4-B196-CDC471C9544C}"/>
              </a:ext>
            </a:extLst>
          </p:cNvPr>
          <p:cNvSpPr txBox="1"/>
          <p:nvPr/>
        </p:nvSpPr>
        <p:spPr>
          <a:xfrm>
            <a:off x="894911" y="2844801"/>
            <a:ext cx="1905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800">
                <a:solidFill>
                  <a:srgbClr val="0FA97F"/>
                </a:solidFill>
              </a:rPr>
              <a:t>오픈뱅킹 통합 조회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73FC5B-CC28-C553-237A-07E170F39D89}"/>
              </a:ext>
            </a:extLst>
          </p:cNvPr>
          <p:cNvSpPr/>
          <p:nvPr/>
        </p:nvSpPr>
        <p:spPr>
          <a:xfrm>
            <a:off x="894911" y="3048001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E090C0-77F2-F111-462E-E4709CF94CCB}"/>
              </a:ext>
            </a:extLst>
          </p:cNvPr>
          <p:cNvSpPr txBox="1"/>
          <p:nvPr/>
        </p:nvSpPr>
        <p:spPr>
          <a:xfrm>
            <a:off x="894911" y="3111501"/>
            <a:ext cx="16764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" altLang="ko-KR" sz="900" b="1">
                <a:solidFill>
                  <a:srgbClr val="1A1A1A"/>
                </a:solidFill>
              </a:rPr>
              <a:t>iM </a:t>
            </a:r>
            <a:r>
              <a:rPr lang="ko-KR" altLang="en-US" sz="900" b="1">
                <a:solidFill>
                  <a:srgbClr val="1A1A1A"/>
                </a:solidFill>
              </a:rPr>
              <a:t>입출금통장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745E55-C6FC-58FC-99DF-1816CF7F4628}"/>
              </a:ext>
            </a:extLst>
          </p:cNvPr>
          <p:cNvSpPr txBox="1"/>
          <p:nvPr/>
        </p:nvSpPr>
        <p:spPr>
          <a:xfrm>
            <a:off x="2495111" y="3111501"/>
            <a:ext cx="11684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1A1A1A"/>
                </a:solidFill>
              </a:rPr>
              <a:t>3,245,600</a:t>
            </a:r>
            <a:r>
              <a:rPr lang="ko-KR" altLang="en-US" sz="900" b="1">
                <a:solidFill>
                  <a:srgbClr val="1A1A1A"/>
                </a:solidFill>
              </a:rPr>
              <a:t>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8E84AB-7998-8415-9AE8-5F9999D6F968}"/>
              </a:ext>
            </a:extLst>
          </p:cNvPr>
          <p:cNvSpPr txBox="1"/>
          <p:nvPr/>
        </p:nvSpPr>
        <p:spPr>
          <a:xfrm>
            <a:off x="894911" y="3276601"/>
            <a:ext cx="1778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" altLang="ko-KR" sz="800">
                <a:solidFill>
                  <a:srgbClr val="5A6B66"/>
                </a:solidFill>
              </a:rPr>
              <a:t>iM</a:t>
            </a:r>
            <a:r>
              <a:rPr lang="ko-KR" altLang="en-US" sz="800">
                <a:solidFill>
                  <a:srgbClr val="5A6B66"/>
                </a:solidFill>
              </a:rPr>
              <a:t>뱅크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A20DBFF-348F-E51D-85F6-9D79FC4FCDB3}"/>
              </a:ext>
            </a:extLst>
          </p:cNvPr>
          <p:cNvSpPr/>
          <p:nvPr/>
        </p:nvSpPr>
        <p:spPr>
          <a:xfrm>
            <a:off x="894911" y="3505201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39B88C-0194-20C8-4798-73FD3FE6491A}"/>
              </a:ext>
            </a:extLst>
          </p:cNvPr>
          <p:cNvSpPr txBox="1"/>
          <p:nvPr/>
        </p:nvSpPr>
        <p:spPr>
          <a:xfrm>
            <a:off x="894911" y="3568701"/>
            <a:ext cx="16764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1A1A1A"/>
                </a:solidFill>
              </a:rPr>
              <a:t>우리 급여통장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5EDF85-6464-66A5-7899-DC7455FBF535}"/>
              </a:ext>
            </a:extLst>
          </p:cNvPr>
          <p:cNvSpPr txBox="1"/>
          <p:nvPr/>
        </p:nvSpPr>
        <p:spPr>
          <a:xfrm>
            <a:off x="2495111" y="3568701"/>
            <a:ext cx="11684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1A1A1A"/>
                </a:solidFill>
              </a:rPr>
              <a:t>1,830,200</a:t>
            </a:r>
            <a:r>
              <a:rPr lang="ko-KR" altLang="en-US" sz="900" b="1">
                <a:solidFill>
                  <a:srgbClr val="1A1A1A"/>
                </a:solidFill>
              </a:rPr>
              <a:t>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08BF32-B620-9533-F00F-11F81491C477}"/>
              </a:ext>
            </a:extLst>
          </p:cNvPr>
          <p:cNvSpPr txBox="1"/>
          <p:nvPr/>
        </p:nvSpPr>
        <p:spPr>
          <a:xfrm>
            <a:off x="894911" y="3733801"/>
            <a:ext cx="1778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800">
                <a:solidFill>
                  <a:srgbClr val="5A6B66"/>
                </a:solidFill>
              </a:rPr>
              <a:t>우리은행 </a:t>
            </a:r>
            <a:r>
              <a:rPr lang="en-US" altLang="ko-KR" sz="800">
                <a:solidFill>
                  <a:srgbClr val="5A6B66"/>
                </a:solidFill>
              </a:rPr>
              <a:t>· </a:t>
            </a:r>
            <a:r>
              <a:rPr lang="ko-KR" altLang="en-US" sz="800">
                <a:solidFill>
                  <a:srgbClr val="5A6B66"/>
                </a:solidFill>
              </a:rPr>
              <a:t>오픈뱅킹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BF11B1A-45CA-E4E5-7920-499FB8380107}"/>
              </a:ext>
            </a:extLst>
          </p:cNvPr>
          <p:cNvSpPr/>
          <p:nvPr/>
        </p:nvSpPr>
        <p:spPr>
          <a:xfrm>
            <a:off x="894911" y="3962401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673B33-8755-16F1-2521-D33A87CF5567}"/>
              </a:ext>
            </a:extLst>
          </p:cNvPr>
          <p:cNvSpPr txBox="1"/>
          <p:nvPr/>
        </p:nvSpPr>
        <p:spPr>
          <a:xfrm>
            <a:off x="894911" y="4025901"/>
            <a:ext cx="16764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1A1A1A"/>
                </a:solidFill>
              </a:rPr>
              <a:t>카카오뱅크 세이프박스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8954DB-B4A5-5372-5D05-AB43C6541212}"/>
              </a:ext>
            </a:extLst>
          </p:cNvPr>
          <p:cNvSpPr txBox="1"/>
          <p:nvPr/>
        </p:nvSpPr>
        <p:spPr>
          <a:xfrm>
            <a:off x="2495111" y="4025901"/>
            <a:ext cx="11684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1A1A1A"/>
                </a:solidFill>
              </a:rPr>
              <a:t>2,500,000</a:t>
            </a:r>
            <a:r>
              <a:rPr lang="ko-KR" altLang="en-US" sz="900" b="1">
                <a:solidFill>
                  <a:srgbClr val="1A1A1A"/>
                </a:solidFill>
              </a:rPr>
              <a:t>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B95B51-B8FD-F038-5316-A9488DA7F408}"/>
              </a:ext>
            </a:extLst>
          </p:cNvPr>
          <p:cNvSpPr txBox="1"/>
          <p:nvPr/>
        </p:nvSpPr>
        <p:spPr>
          <a:xfrm>
            <a:off x="894911" y="4191001"/>
            <a:ext cx="1778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800">
                <a:solidFill>
                  <a:srgbClr val="5A6B66"/>
                </a:solidFill>
              </a:rPr>
              <a:t>카카오뱅크 </a:t>
            </a:r>
            <a:r>
              <a:rPr lang="en-US" altLang="ko-KR" sz="800">
                <a:solidFill>
                  <a:srgbClr val="5A6B66"/>
                </a:solidFill>
              </a:rPr>
              <a:t>· </a:t>
            </a:r>
            <a:r>
              <a:rPr lang="ko-KR" altLang="en-US" sz="800">
                <a:solidFill>
                  <a:srgbClr val="5A6B66"/>
                </a:solidFill>
              </a:rPr>
              <a:t>오픈뱅킹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B91CB71C-E6E6-FB5E-F72D-334C946E30D0}"/>
              </a:ext>
            </a:extLst>
          </p:cNvPr>
          <p:cNvSpPr/>
          <p:nvPr/>
        </p:nvSpPr>
        <p:spPr>
          <a:xfrm>
            <a:off x="1148911" y="4597401"/>
            <a:ext cx="2349500" cy="609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900">
                <a:solidFill>
                  <a:srgbClr val="1A1A1A"/>
                </a:solidFill>
              </a:rPr>
              <a:t>오픈뱅킹으로 연결된 계좌를 포함해 전체 자산은 </a:t>
            </a:r>
            <a:r>
              <a:rPr lang="en-US" altLang="ko-KR" sz="900">
                <a:solidFill>
                  <a:srgbClr val="1A1A1A"/>
                </a:solidFill>
              </a:rPr>
              <a:t>7,575,800</a:t>
            </a:r>
            <a:r>
              <a:rPr lang="ko-KR" altLang="en-US" sz="900">
                <a:solidFill>
                  <a:srgbClr val="1A1A1A"/>
                </a:solidFill>
              </a:rPr>
              <a:t>원입니다</a:t>
            </a:r>
            <a:r>
              <a:rPr lang="en-US" altLang="ko-KR" sz="900">
                <a:solidFill>
                  <a:srgbClr val="1A1A1A"/>
                </a:solidFill>
              </a:rPr>
              <a:t>.</a:t>
            </a:r>
            <a:endParaRPr lang="ko-KR" altLang="en-US" sz="900">
              <a:solidFill>
                <a:srgbClr val="1A1A1A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B63B1E7D-9AFA-5258-3B4A-6E218E9D6C0F}"/>
              </a:ext>
            </a:extLst>
          </p:cNvPr>
          <p:cNvSpPr/>
          <p:nvPr/>
        </p:nvSpPr>
        <p:spPr>
          <a:xfrm>
            <a:off x="1148911" y="5334001"/>
            <a:ext cx="10160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750">
                <a:solidFill>
                  <a:srgbClr val="0FA97F"/>
                </a:solidFill>
              </a:rPr>
              <a:t>오픈뱅킹 계좌 관리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64C064B5-17D4-1D56-3352-802689C0F631}"/>
              </a:ext>
            </a:extLst>
          </p:cNvPr>
          <p:cNvSpPr/>
          <p:nvPr/>
        </p:nvSpPr>
        <p:spPr>
          <a:xfrm>
            <a:off x="2241111" y="5334001"/>
            <a:ext cx="8382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750">
                <a:solidFill>
                  <a:srgbClr val="0FA97F"/>
                </a:solidFill>
              </a:rPr>
              <a:t>자산 추이 보기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C90F11C5-465A-993B-A1AB-CF042CDC8B59}"/>
              </a:ext>
            </a:extLst>
          </p:cNvPr>
          <p:cNvSpPr/>
          <p:nvPr/>
        </p:nvSpPr>
        <p:spPr>
          <a:xfrm>
            <a:off x="3155511" y="5334001"/>
            <a:ext cx="4318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750">
                <a:solidFill>
                  <a:srgbClr val="0FA97F"/>
                </a:solidFill>
              </a:rPr>
              <a:t>완료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BCBCE74E-86E7-FEF6-B464-A3D2E08EAC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699975" y="4595944"/>
            <a:ext cx="449706" cy="44970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1525AB64-6E57-7579-E8EB-C4B4137E26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703874" y="2055765"/>
            <a:ext cx="449706" cy="44970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181E1C3-5EEE-FC34-B535-63B60F0433EA}"/>
              </a:ext>
            </a:extLst>
          </p:cNvPr>
          <p:cNvSpPr txBox="1"/>
          <p:nvPr/>
        </p:nvSpPr>
        <p:spPr>
          <a:xfrm>
            <a:off x="-1248" y="-44699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특정 시나리오</a:t>
            </a:r>
          </a:p>
        </p:txBody>
      </p:sp>
      <p:sp>
        <p:nvSpPr>
          <p:cNvPr id="32" name="액자 31">
            <a:extLst>
              <a:ext uri="{FF2B5EF4-FFF2-40B4-BE49-F238E27FC236}">
                <a16:creationId xmlns:a16="http://schemas.microsoft.com/office/drawing/2014/main" id="{7C25551C-1C2F-CAAA-33A6-EE1D56CC327C}"/>
              </a:ext>
            </a:extLst>
          </p:cNvPr>
          <p:cNvSpPr/>
          <p:nvPr/>
        </p:nvSpPr>
        <p:spPr>
          <a:xfrm>
            <a:off x="1114097" y="5308588"/>
            <a:ext cx="1050814" cy="296612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C9E903-EAE1-E558-B24D-A20C58C24CC2}"/>
              </a:ext>
            </a:extLst>
          </p:cNvPr>
          <p:cNvSpPr/>
          <p:nvPr/>
        </p:nvSpPr>
        <p:spPr>
          <a:xfrm>
            <a:off x="1236564" y="5587910"/>
            <a:ext cx="839372" cy="29661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800" dirty="0" err="1"/>
              <a:t>딥링크</a:t>
            </a:r>
            <a:r>
              <a:rPr kumimoji="1" lang="ko-KR" altLang="en-US" sz="800" dirty="0"/>
              <a:t> </a:t>
            </a:r>
            <a:endParaRPr kumimoji="1" lang="en-US" altLang="ko-KR" sz="800" dirty="0"/>
          </a:p>
          <a:p>
            <a:pPr algn="ctr"/>
            <a:r>
              <a:rPr kumimoji="1" lang="en-US" altLang="ko-KR" sz="800" dirty="0"/>
              <a:t>Phase</a:t>
            </a:r>
            <a:r>
              <a:rPr kumimoji="1" lang="ko-KR" altLang="en-US" sz="800" dirty="0"/>
              <a:t> </a:t>
            </a:r>
            <a:r>
              <a:rPr kumimoji="1" lang="en-US" altLang="ko-KR" sz="800" dirty="0"/>
              <a:t>1</a:t>
            </a:r>
            <a:endParaRPr kumimoji="1"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4101110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그룹 39">
            <a:extLst>
              <a:ext uri="{FF2B5EF4-FFF2-40B4-BE49-F238E27FC236}">
                <a16:creationId xmlns:a16="http://schemas.microsoft.com/office/drawing/2014/main" id="{003237D8-8487-88EC-0AFC-4493D10060BD}"/>
              </a:ext>
            </a:extLst>
          </p:cNvPr>
          <p:cNvGrpSpPr/>
          <p:nvPr/>
        </p:nvGrpSpPr>
        <p:grpSpPr>
          <a:xfrm>
            <a:off x="505889" y="0"/>
            <a:ext cx="3563007" cy="6858000"/>
            <a:chOff x="505889" y="0"/>
            <a:chExt cx="3563007" cy="685800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889C8C2D-54C7-1CF2-CB4B-9A281A406E15}"/>
                </a:ext>
              </a:extLst>
            </p:cNvPr>
            <p:cNvGrpSpPr/>
            <p:nvPr/>
          </p:nvGrpSpPr>
          <p:grpSpPr>
            <a:xfrm>
              <a:off x="505889" y="0"/>
              <a:ext cx="3563007" cy="6858000"/>
              <a:chOff x="2532993" y="0"/>
              <a:chExt cx="3563007" cy="6858000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2BEA3634-DB2C-A860-0878-22D7DD3D7A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32993" y="0"/>
                <a:ext cx="3563007" cy="6858000"/>
              </a:xfrm>
              <a:prstGeom prst="rect">
                <a:avLst/>
              </a:prstGeom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B5819F9-46A7-C48B-D904-29FA267F54A6}"/>
                  </a:ext>
                </a:extLst>
              </p:cNvPr>
              <p:cNvSpPr/>
              <p:nvPr/>
            </p:nvSpPr>
            <p:spPr>
              <a:xfrm>
                <a:off x="2677100" y="958468"/>
                <a:ext cx="3294042" cy="4831574"/>
              </a:xfrm>
              <a:prstGeom prst="rect">
                <a:avLst/>
              </a:prstGeom>
              <a:solidFill>
                <a:srgbClr val="EEF8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</p:grp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A553CB8-C63D-30EA-F9F8-A3531529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03" t="27104" r="82676" b="66338"/>
            <a:stretch>
              <a:fillRect/>
            </a:stretch>
          </p:blipFill>
          <p:spPr>
            <a:xfrm>
              <a:off x="694064" y="977900"/>
              <a:ext cx="449706" cy="449705"/>
            </a:xfrm>
            <a:prstGeom prst="rect">
              <a:avLst/>
            </a:prstGeom>
          </p:spPr>
        </p:pic>
        <p:sp>
          <p:nvSpPr>
            <p:cNvPr id="72" name="모서리가 둥근 직사각형 71">
              <a:extLst>
                <a:ext uri="{FF2B5EF4-FFF2-40B4-BE49-F238E27FC236}">
                  <a16:creationId xmlns:a16="http://schemas.microsoft.com/office/drawing/2014/main" id="{2F64C37D-5E29-084E-9D0B-77FD80C4490E}"/>
                </a:ext>
              </a:extLst>
            </p:cNvPr>
            <p:cNvSpPr/>
            <p:nvPr/>
          </p:nvSpPr>
          <p:spPr>
            <a:xfrm>
              <a:off x="1143000" y="1066800"/>
              <a:ext cx="1676400" cy="431800"/>
            </a:xfrm>
            <a:prstGeom prst="round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pPr algn="l"/>
              <a:r>
                <a:rPr lang="ko-KR" altLang="en-US" sz="900" dirty="0">
                  <a:solidFill>
                    <a:srgbClr val="1A1A1A"/>
                  </a:solidFill>
                </a:rPr>
                <a:t>안녕하세요</a:t>
              </a:r>
              <a:r>
                <a:rPr lang="en-US" altLang="ko-KR" sz="900" dirty="0">
                  <a:solidFill>
                    <a:srgbClr val="1A1A1A"/>
                  </a:solidFill>
                </a:rPr>
                <a:t>, </a:t>
              </a:r>
              <a:r>
                <a:rPr lang="ko-KR" altLang="en-US" sz="900" dirty="0">
                  <a:solidFill>
                    <a:srgbClr val="1A1A1A"/>
                  </a:solidFill>
                </a:rPr>
                <a:t>고객님</a:t>
              </a:r>
              <a:r>
                <a:rPr lang="en-US" altLang="ko-KR" sz="900" dirty="0">
                  <a:solidFill>
                    <a:srgbClr val="1A1A1A"/>
                  </a:solidFill>
                </a:rPr>
                <a:t>.
</a:t>
              </a:r>
              <a:r>
                <a:rPr lang="ko-KR" altLang="en-US" sz="900" dirty="0">
                  <a:solidFill>
                    <a:srgbClr val="1A1A1A"/>
                  </a:solidFill>
                </a:rPr>
                <a:t>무엇을 도와드릴까요</a:t>
              </a:r>
              <a:r>
                <a:rPr lang="en-US" altLang="ko-KR" sz="900" dirty="0">
                  <a:solidFill>
                    <a:srgbClr val="1A1A1A"/>
                  </a:solidFill>
                </a:rPr>
                <a:t>?</a:t>
              </a:r>
              <a:endParaRPr lang="ko-KR" altLang="en-US" sz="900" dirty="0">
                <a:solidFill>
                  <a:srgbClr val="1A1A1A"/>
                </a:solidFill>
              </a:endParaRPr>
            </a:p>
          </p:txBody>
        </p:sp>
      </p:grp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005EA700-1A4E-F6D5-031A-4BD87E6405F1}"/>
              </a:ext>
            </a:extLst>
          </p:cNvPr>
          <p:cNvSpPr/>
          <p:nvPr/>
        </p:nvSpPr>
        <p:spPr>
          <a:xfrm>
            <a:off x="1143000" y="2082800"/>
            <a:ext cx="2260600" cy="609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sz="900">
                <a:solidFill>
                  <a:srgbClr val="1A1A1A"/>
                </a:solidFill>
              </a:rPr>
              <a:t>네</a:t>
            </a:r>
            <a:r>
              <a:rPr kumimoji="1" lang="en-US" altLang="ko-KR" sz="900">
                <a:solidFill>
                  <a:srgbClr val="1A1A1A"/>
                </a:solidFill>
              </a:rPr>
              <a:t>, 3</a:t>
            </a:r>
            <a:r>
              <a:rPr kumimoji="1" lang="ko-KR" altLang="en-US" sz="900">
                <a:solidFill>
                  <a:srgbClr val="1A1A1A"/>
                </a:solidFill>
              </a:rPr>
              <a:t>월 중 메모에 </a:t>
            </a:r>
            <a:r>
              <a:rPr kumimoji="1" lang="en-US" altLang="ko-KR" sz="900">
                <a:solidFill>
                  <a:srgbClr val="1A1A1A"/>
                </a:solidFill>
              </a:rPr>
              <a:t>'</a:t>
            </a:r>
            <a:r>
              <a:rPr kumimoji="1" lang="ko-KR" altLang="en-US" sz="900">
                <a:solidFill>
                  <a:srgbClr val="1A1A1A"/>
                </a:solidFill>
              </a:rPr>
              <a:t>학원비</a:t>
            </a:r>
            <a:r>
              <a:rPr kumimoji="1" lang="en-US" altLang="ko-KR" sz="900">
                <a:solidFill>
                  <a:srgbClr val="1A1A1A"/>
                </a:solidFill>
              </a:rPr>
              <a:t>'</a:t>
            </a:r>
            <a:r>
              <a:rPr kumimoji="1" lang="ko-KR" altLang="en-US" sz="900">
                <a:solidFill>
                  <a:srgbClr val="1A1A1A"/>
                </a:solidFill>
              </a:rPr>
              <a:t>가 포함된 이체 내역을 검색해 드리겠습니다</a:t>
            </a:r>
            <a:r>
              <a:rPr kumimoji="1" lang="en-US" altLang="ko-KR" sz="900">
                <a:solidFill>
                  <a:srgbClr val="1A1A1A"/>
                </a:solidFill>
              </a:rPr>
              <a:t>.</a:t>
            </a:r>
            <a:endParaRPr kumimoji="1" lang="ko-KR" altLang="en-US" sz="900" dirty="0">
              <a:solidFill>
                <a:srgbClr val="1A1A1A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483CC70-76AF-62B3-6E2E-6366208D6BC7}"/>
              </a:ext>
            </a:extLst>
          </p:cNvPr>
          <p:cNvSpPr/>
          <p:nvPr/>
        </p:nvSpPr>
        <p:spPr>
          <a:xfrm>
            <a:off x="1841500" y="1574800"/>
            <a:ext cx="1968500" cy="431800"/>
          </a:xfrm>
          <a:prstGeom prst="roundRect">
            <a:avLst/>
          </a:prstGeom>
          <a:solidFill>
            <a:srgbClr val="BCE5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l"/>
            <a:r>
              <a:rPr kumimoji="1" lang="en-US" altLang="ko-KR" sz="900" dirty="0">
                <a:solidFill>
                  <a:srgbClr val="1A1A1A"/>
                </a:solidFill>
              </a:rPr>
              <a:t>3</a:t>
            </a:r>
            <a:r>
              <a:rPr kumimoji="1" lang="ko-KR" altLang="en-US" sz="900" dirty="0">
                <a:solidFill>
                  <a:srgbClr val="1A1A1A"/>
                </a:solidFill>
              </a:rPr>
              <a:t>월에 학원비라고 보낸 내역을 찾아줘</a:t>
            </a:r>
            <a:r>
              <a:rPr kumimoji="1" lang="en-US" altLang="ko-KR" sz="900" dirty="0">
                <a:solidFill>
                  <a:srgbClr val="1A1A1A"/>
                </a:solidFill>
              </a:rPr>
              <a:t>.</a:t>
            </a:r>
            <a:endParaRPr kumimoji="1" lang="ko-KR" altLang="en-US" sz="900" dirty="0">
              <a:solidFill>
                <a:srgbClr val="1A1A1A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D7D5B9F-A63C-0CF8-6F64-5ABA9E032DBF}"/>
              </a:ext>
            </a:extLst>
          </p:cNvPr>
          <p:cNvGrpSpPr/>
          <p:nvPr/>
        </p:nvGrpSpPr>
        <p:grpSpPr>
          <a:xfrm>
            <a:off x="4113866" y="0"/>
            <a:ext cx="3563007" cy="6858000"/>
            <a:chOff x="2532993" y="0"/>
            <a:chExt cx="3563007" cy="685800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ABFA71E-8B51-3C5D-8878-55BEC5739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2993" y="0"/>
              <a:ext cx="3563007" cy="6858000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3243D73-5CC5-5169-E7BE-569794C444AD}"/>
                </a:ext>
              </a:extLst>
            </p:cNvPr>
            <p:cNvSpPr/>
            <p:nvPr/>
          </p:nvSpPr>
          <p:spPr>
            <a:xfrm>
              <a:off x="2677100" y="958468"/>
              <a:ext cx="3294042" cy="4831574"/>
            </a:xfrm>
            <a:prstGeom prst="rect">
              <a:avLst/>
            </a:prstGeom>
            <a:solidFill>
              <a:srgbClr val="EEF8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C26E837E-8B24-9238-0F79-6DACB4D040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4302041" y="977900"/>
            <a:ext cx="449706" cy="449705"/>
          </a:xfrm>
          <a:prstGeom prst="rect">
            <a:avLst/>
          </a:prstGeom>
        </p:spPr>
      </p:pic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AD51278E-FA7A-6718-6555-FF4D8DEE538B}"/>
              </a:ext>
            </a:extLst>
          </p:cNvPr>
          <p:cNvSpPr/>
          <p:nvPr/>
        </p:nvSpPr>
        <p:spPr>
          <a:xfrm>
            <a:off x="4756670" y="2082800"/>
            <a:ext cx="2260600" cy="609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sz="900" dirty="0">
                <a:solidFill>
                  <a:srgbClr val="1A1A1A"/>
                </a:solidFill>
              </a:rPr>
              <a:t>네</a:t>
            </a:r>
            <a:r>
              <a:rPr kumimoji="1" lang="en-US" altLang="ko-KR" sz="900" dirty="0">
                <a:solidFill>
                  <a:srgbClr val="1A1A1A"/>
                </a:solidFill>
              </a:rPr>
              <a:t>, </a:t>
            </a:r>
            <a:r>
              <a:rPr kumimoji="1" lang="ko-KR" altLang="en-US" sz="900" dirty="0">
                <a:solidFill>
                  <a:srgbClr val="1A1A1A"/>
                </a:solidFill>
              </a:rPr>
              <a:t>최근 </a:t>
            </a:r>
            <a:r>
              <a:rPr kumimoji="1" lang="en-US" altLang="ko-KR" sz="900" dirty="0">
                <a:solidFill>
                  <a:srgbClr val="1A1A1A"/>
                </a:solidFill>
              </a:rPr>
              <a:t>3</a:t>
            </a:r>
            <a:r>
              <a:rPr kumimoji="1" lang="ko-KR" altLang="en-US" sz="900" dirty="0">
                <a:solidFill>
                  <a:srgbClr val="1A1A1A"/>
                </a:solidFill>
              </a:rPr>
              <a:t>개월간 </a:t>
            </a:r>
            <a:r>
              <a:rPr kumimoji="1" lang="en-US" altLang="ko-KR" sz="900" dirty="0">
                <a:solidFill>
                  <a:srgbClr val="1A1A1A"/>
                </a:solidFill>
              </a:rPr>
              <a:t>'</a:t>
            </a:r>
            <a:r>
              <a:rPr kumimoji="1" lang="ko-KR" altLang="en-US" sz="900" dirty="0">
                <a:solidFill>
                  <a:srgbClr val="1A1A1A"/>
                </a:solidFill>
              </a:rPr>
              <a:t>이마트</a:t>
            </a:r>
            <a:r>
              <a:rPr kumimoji="1" lang="en-US" altLang="ko-KR" sz="900" dirty="0">
                <a:solidFill>
                  <a:srgbClr val="1A1A1A"/>
                </a:solidFill>
              </a:rPr>
              <a:t>' </a:t>
            </a:r>
            <a:r>
              <a:rPr kumimoji="1" lang="ko-KR" altLang="en-US" sz="900" dirty="0">
                <a:solidFill>
                  <a:srgbClr val="1A1A1A"/>
                </a:solidFill>
              </a:rPr>
              <a:t>가맹점 결제 내역을 검색해 드리겠습니다</a:t>
            </a:r>
            <a:r>
              <a:rPr kumimoji="1" lang="en-US" altLang="ko-KR" sz="900" dirty="0">
                <a:solidFill>
                  <a:srgbClr val="1A1A1A"/>
                </a:solidFill>
              </a:rPr>
              <a:t>.</a:t>
            </a:r>
            <a:endParaRPr kumimoji="1" lang="ko-KR" altLang="en-US" sz="900" dirty="0">
              <a:solidFill>
                <a:srgbClr val="1A1A1A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F11291EE-ACCC-4AFD-3C81-7306DD459F9B}"/>
              </a:ext>
            </a:extLst>
          </p:cNvPr>
          <p:cNvSpPr/>
          <p:nvPr/>
        </p:nvSpPr>
        <p:spPr>
          <a:xfrm>
            <a:off x="5391670" y="1574800"/>
            <a:ext cx="2032000" cy="431800"/>
          </a:xfrm>
          <a:prstGeom prst="roundRect">
            <a:avLst/>
          </a:prstGeom>
          <a:solidFill>
            <a:srgbClr val="BCE5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l"/>
            <a:r>
              <a:rPr kumimoji="1" lang="ko-KR" altLang="en-US" sz="900">
                <a:solidFill>
                  <a:srgbClr val="1A1A1A"/>
                </a:solidFill>
              </a:rPr>
              <a:t>최근 </a:t>
            </a:r>
            <a:r>
              <a:rPr kumimoji="1" lang="en-US" altLang="ko-KR" sz="900">
                <a:solidFill>
                  <a:srgbClr val="1A1A1A"/>
                </a:solidFill>
              </a:rPr>
              <a:t>3</a:t>
            </a:r>
            <a:r>
              <a:rPr kumimoji="1" lang="ko-KR" altLang="en-US" sz="900">
                <a:solidFill>
                  <a:srgbClr val="1A1A1A"/>
                </a:solidFill>
              </a:rPr>
              <a:t>개월 동안 이마트에서 결제한 내역 다 보여줘</a:t>
            </a:r>
            <a:r>
              <a:rPr kumimoji="1" lang="en-US" altLang="ko-KR" sz="900">
                <a:solidFill>
                  <a:srgbClr val="1A1A1A"/>
                </a:solidFill>
              </a:rPr>
              <a:t>.</a:t>
            </a:r>
            <a:endParaRPr kumimoji="1" lang="ko-KR" altLang="en-US" sz="900" dirty="0">
              <a:solidFill>
                <a:srgbClr val="1A1A1A"/>
              </a:solidFill>
            </a:endParaRPr>
          </a:p>
        </p:txBody>
      </p:sp>
      <p:grpSp>
        <p:nvGrpSpPr>
          <p:cNvPr id="200" name="그룹 9">
            <a:extLst>
              <a:ext uri="{FF2B5EF4-FFF2-40B4-BE49-F238E27FC236}">
                <a16:creationId xmlns:a16="http://schemas.microsoft.com/office/drawing/2014/main" id="{9D7D5B9F-A63C-0CF8-6F64-5ABA9E032DBF}"/>
              </a:ext>
            </a:extLst>
          </p:cNvPr>
          <p:cNvGrpSpPr/>
          <p:nvPr/>
        </p:nvGrpSpPr>
        <p:grpSpPr>
          <a:xfrm>
            <a:off x="7682566" y="0"/>
            <a:ext cx="3563007" cy="6858000"/>
            <a:chOff x="2532993" y="0"/>
            <a:chExt cx="3563007" cy="6858000"/>
          </a:xfrm>
        </p:grpSpPr>
        <p:pic>
          <p:nvPicPr>
            <p:cNvPr id="201" name="그림 10">
              <a:extLst>
                <a:ext uri="{FF2B5EF4-FFF2-40B4-BE49-F238E27FC236}">
                  <a16:creationId xmlns:a16="http://schemas.microsoft.com/office/drawing/2014/main" id="{5ABFA71E-8B51-3C5D-8878-55BEC5739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2993" y="0"/>
              <a:ext cx="3563007" cy="6858000"/>
            </a:xfrm>
            <a:prstGeom prst="rect">
              <a:avLst/>
            </a:prstGeom>
          </p:spPr>
        </p:pic>
        <p:sp>
          <p:nvSpPr>
            <p:cNvPr id="202" name="직사각형 11">
              <a:extLst>
                <a:ext uri="{FF2B5EF4-FFF2-40B4-BE49-F238E27FC236}">
                  <a16:creationId xmlns:a16="http://schemas.microsoft.com/office/drawing/2014/main" id="{A3243D73-5CC5-5169-E7BE-569794C444AD}"/>
                </a:ext>
              </a:extLst>
            </p:cNvPr>
            <p:cNvSpPr/>
            <p:nvPr/>
          </p:nvSpPr>
          <p:spPr>
            <a:xfrm>
              <a:off x="2677100" y="958468"/>
              <a:ext cx="3294042" cy="4831574"/>
            </a:xfrm>
            <a:prstGeom prst="rect">
              <a:avLst/>
            </a:prstGeom>
            <a:solidFill>
              <a:srgbClr val="EEF8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73" name="모서리가 둥근 직사각형 72">
            <a:extLst>
              <a:ext uri="{FF2B5EF4-FFF2-40B4-BE49-F238E27FC236}">
                <a16:creationId xmlns:a16="http://schemas.microsoft.com/office/drawing/2014/main" id="{32B9AB31-3946-034E-B704-86B4AFFDE5C1}"/>
              </a:ext>
            </a:extLst>
          </p:cNvPr>
          <p:cNvSpPr/>
          <p:nvPr/>
        </p:nvSpPr>
        <p:spPr>
          <a:xfrm>
            <a:off x="736600" y="2768600"/>
            <a:ext cx="3073400" cy="12827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E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F7B6BDA-265A-674B-A942-32A396E82C1D}"/>
              </a:ext>
            </a:extLst>
          </p:cNvPr>
          <p:cNvSpPr txBox="1"/>
          <p:nvPr/>
        </p:nvSpPr>
        <p:spPr>
          <a:xfrm>
            <a:off x="889000" y="2844800"/>
            <a:ext cx="1905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800">
                <a:solidFill>
                  <a:srgbClr val="0FA97F"/>
                </a:solidFill>
              </a:rPr>
              <a:t>'</a:t>
            </a:r>
            <a:r>
              <a:rPr lang="ko-KR" altLang="en-US" sz="800">
                <a:solidFill>
                  <a:srgbClr val="0FA97F"/>
                </a:solidFill>
              </a:rPr>
              <a:t>학원비</a:t>
            </a:r>
            <a:r>
              <a:rPr lang="en-US" altLang="ko-KR" sz="800">
                <a:solidFill>
                  <a:srgbClr val="0FA97F"/>
                </a:solidFill>
              </a:rPr>
              <a:t>' </a:t>
            </a:r>
            <a:r>
              <a:rPr lang="ko-KR" altLang="en-US" sz="800">
                <a:solidFill>
                  <a:srgbClr val="0FA97F"/>
                </a:solidFill>
              </a:rPr>
              <a:t>검색 결과 </a:t>
            </a:r>
            <a:r>
              <a:rPr lang="en-US" altLang="ko-KR" sz="800">
                <a:solidFill>
                  <a:srgbClr val="0FA97F"/>
                </a:solidFill>
              </a:rPr>
              <a:t>(3</a:t>
            </a:r>
            <a:r>
              <a:rPr lang="ko-KR" altLang="en-US" sz="800">
                <a:solidFill>
                  <a:srgbClr val="0FA97F"/>
                </a:solidFill>
              </a:rPr>
              <a:t>월</a:t>
            </a:r>
            <a:r>
              <a:rPr lang="en-US" altLang="ko-KR" sz="800">
                <a:solidFill>
                  <a:srgbClr val="0FA97F"/>
                </a:solidFill>
              </a:rPr>
              <a:t>)</a:t>
            </a:r>
            <a:endParaRPr lang="ko-KR" altLang="en-US" sz="800">
              <a:solidFill>
                <a:srgbClr val="0FA97F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FC675D0-8218-8E40-A85C-4DD8AB00E1F5}"/>
              </a:ext>
            </a:extLst>
          </p:cNvPr>
          <p:cNvSpPr/>
          <p:nvPr/>
        </p:nvSpPr>
        <p:spPr>
          <a:xfrm>
            <a:off x="889000" y="30480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65046D6-B0AB-4342-8893-564549B73B38}"/>
              </a:ext>
            </a:extLst>
          </p:cNvPr>
          <p:cNvSpPr txBox="1"/>
          <p:nvPr/>
        </p:nvSpPr>
        <p:spPr>
          <a:xfrm>
            <a:off x="889000" y="3111500"/>
            <a:ext cx="1651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1A1A1A"/>
                </a:solidFill>
              </a:rPr>
              <a:t>이체 </a:t>
            </a:r>
            <a:r>
              <a:rPr lang="en-US" altLang="ko-KR" sz="900" b="1">
                <a:solidFill>
                  <a:srgbClr val="1A1A1A"/>
                </a:solidFill>
              </a:rPr>
              <a:t>- </a:t>
            </a:r>
            <a:r>
              <a:rPr lang="en" altLang="ko-KR" sz="900" b="1">
                <a:solidFill>
                  <a:srgbClr val="1A1A1A"/>
                </a:solidFill>
              </a:rPr>
              <a:t>OO</a:t>
            </a:r>
            <a:r>
              <a:rPr lang="ko-KR" altLang="en-US" sz="900" b="1">
                <a:solidFill>
                  <a:srgbClr val="1A1A1A"/>
                </a:solidFill>
              </a:rPr>
              <a:t>어학원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6E004DA-4358-D94D-92FF-E50C131E0DF5}"/>
              </a:ext>
            </a:extLst>
          </p:cNvPr>
          <p:cNvSpPr txBox="1"/>
          <p:nvPr/>
        </p:nvSpPr>
        <p:spPr>
          <a:xfrm>
            <a:off x="2514600" y="3111500"/>
            <a:ext cx="1143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1A1A1A"/>
                </a:solidFill>
              </a:rPr>
              <a:t>-350,000</a:t>
            </a:r>
            <a:r>
              <a:rPr lang="ko-KR" altLang="en-US" sz="900" b="1">
                <a:solidFill>
                  <a:srgbClr val="1A1A1A"/>
                </a:solidFill>
              </a:rPr>
              <a:t>원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70350E4-104F-1E4E-915A-015C9D676DF3}"/>
              </a:ext>
            </a:extLst>
          </p:cNvPr>
          <p:cNvSpPr txBox="1"/>
          <p:nvPr/>
        </p:nvSpPr>
        <p:spPr>
          <a:xfrm>
            <a:off x="889000" y="3276600"/>
            <a:ext cx="1524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800">
                <a:solidFill>
                  <a:srgbClr val="5A6B66"/>
                </a:solidFill>
              </a:rPr>
              <a:t>03.05 10:12</a:t>
            </a:r>
            <a:endParaRPr lang="ko-KR" altLang="en-US" sz="800">
              <a:solidFill>
                <a:srgbClr val="5A6B66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AEA1686-D209-084D-9E7F-9DFE1160B024}"/>
              </a:ext>
            </a:extLst>
          </p:cNvPr>
          <p:cNvSpPr/>
          <p:nvPr/>
        </p:nvSpPr>
        <p:spPr>
          <a:xfrm>
            <a:off x="889000" y="35052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3A48C03-57CA-644C-8140-EDB30B4FD21E}"/>
              </a:ext>
            </a:extLst>
          </p:cNvPr>
          <p:cNvSpPr txBox="1"/>
          <p:nvPr/>
        </p:nvSpPr>
        <p:spPr>
          <a:xfrm>
            <a:off x="889000" y="3568700"/>
            <a:ext cx="1651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1A1A1A"/>
                </a:solidFill>
              </a:rPr>
              <a:t>이체 </a:t>
            </a:r>
            <a:r>
              <a:rPr lang="en-US" altLang="ko-KR" sz="900" b="1">
                <a:solidFill>
                  <a:srgbClr val="1A1A1A"/>
                </a:solidFill>
              </a:rPr>
              <a:t>- </a:t>
            </a:r>
            <a:r>
              <a:rPr lang="en" altLang="ko-KR" sz="900" b="1">
                <a:solidFill>
                  <a:srgbClr val="1A1A1A"/>
                </a:solidFill>
              </a:rPr>
              <a:t>OO</a:t>
            </a:r>
            <a:r>
              <a:rPr lang="ko-KR" altLang="en-US" sz="900" b="1">
                <a:solidFill>
                  <a:srgbClr val="1A1A1A"/>
                </a:solidFill>
              </a:rPr>
              <a:t>어학원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96A3462-DCEC-F445-9577-FF8D08D216AF}"/>
              </a:ext>
            </a:extLst>
          </p:cNvPr>
          <p:cNvSpPr txBox="1"/>
          <p:nvPr/>
        </p:nvSpPr>
        <p:spPr>
          <a:xfrm>
            <a:off x="2514600" y="3568700"/>
            <a:ext cx="1143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1A1A1A"/>
                </a:solidFill>
              </a:rPr>
              <a:t>-350,000</a:t>
            </a:r>
            <a:r>
              <a:rPr lang="ko-KR" altLang="en-US" sz="900" b="1">
                <a:solidFill>
                  <a:srgbClr val="1A1A1A"/>
                </a:solidFill>
              </a:rPr>
              <a:t>원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D47FDA2-C479-EB45-A44F-87BC32591E3D}"/>
              </a:ext>
            </a:extLst>
          </p:cNvPr>
          <p:cNvSpPr txBox="1"/>
          <p:nvPr/>
        </p:nvSpPr>
        <p:spPr>
          <a:xfrm>
            <a:off x="889000" y="3733800"/>
            <a:ext cx="1524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800">
                <a:solidFill>
                  <a:srgbClr val="5A6B66"/>
                </a:solidFill>
              </a:rPr>
              <a:t>03.20 10:15</a:t>
            </a:r>
            <a:endParaRPr lang="ko-KR" altLang="en-US" sz="800">
              <a:solidFill>
                <a:srgbClr val="5A6B66"/>
              </a:solidFill>
            </a:endParaRP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3CD5EF9C-5C81-104B-9CDB-075EF472B16E}"/>
              </a:ext>
            </a:extLst>
          </p:cNvPr>
          <p:cNvSpPr/>
          <p:nvPr/>
        </p:nvSpPr>
        <p:spPr>
          <a:xfrm>
            <a:off x="1143000" y="4140200"/>
            <a:ext cx="2349500" cy="609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900">
                <a:solidFill>
                  <a:srgbClr val="1A1A1A"/>
                </a:solidFill>
              </a:rPr>
              <a:t>'</a:t>
            </a:r>
            <a:r>
              <a:rPr lang="ko-KR" altLang="en-US" sz="900">
                <a:solidFill>
                  <a:srgbClr val="1A1A1A"/>
                </a:solidFill>
              </a:rPr>
              <a:t>학원비</a:t>
            </a:r>
            <a:r>
              <a:rPr lang="en-US" altLang="ko-KR" sz="900">
                <a:solidFill>
                  <a:srgbClr val="1A1A1A"/>
                </a:solidFill>
              </a:rPr>
              <a:t>' </a:t>
            </a:r>
            <a:r>
              <a:rPr lang="ko-KR" altLang="en-US" sz="900">
                <a:solidFill>
                  <a:srgbClr val="1A1A1A"/>
                </a:solidFill>
              </a:rPr>
              <a:t>메모로 </a:t>
            </a:r>
            <a:r>
              <a:rPr lang="en-US" altLang="ko-KR" sz="900">
                <a:solidFill>
                  <a:srgbClr val="1A1A1A"/>
                </a:solidFill>
              </a:rPr>
              <a:t>3</a:t>
            </a:r>
            <a:r>
              <a:rPr lang="ko-KR" altLang="en-US" sz="900">
                <a:solidFill>
                  <a:srgbClr val="1A1A1A"/>
                </a:solidFill>
              </a:rPr>
              <a:t>월에 총 </a:t>
            </a:r>
            <a:r>
              <a:rPr lang="en-US" altLang="ko-KR" sz="900">
                <a:solidFill>
                  <a:srgbClr val="1A1A1A"/>
                </a:solidFill>
              </a:rPr>
              <a:t>2</a:t>
            </a:r>
            <a:r>
              <a:rPr lang="ko-KR" altLang="en-US" sz="900">
                <a:solidFill>
                  <a:srgbClr val="1A1A1A"/>
                </a:solidFill>
              </a:rPr>
              <a:t>건</a:t>
            </a:r>
            <a:r>
              <a:rPr lang="en-US" altLang="ko-KR" sz="900">
                <a:solidFill>
                  <a:srgbClr val="1A1A1A"/>
                </a:solidFill>
              </a:rPr>
              <a:t>, 700,000</a:t>
            </a:r>
            <a:r>
              <a:rPr lang="ko-KR" altLang="en-US" sz="900">
                <a:solidFill>
                  <a:srgbClr val="1A1A1A"/>
                </a:solidFill>
              </a:rPr>
              <a:t>원을 송금하신 내역이 확인됩니다</a:t>
            </a:r>
            <a:r>
              <a:rPr lang="en-US" altLang="ko-KR" sz="900">
                <a:solidFill>
                  <a:srgbClr val="1A1A1A"/>
                </a:solidFill>
              </a:rPr>
              <a:t>.</a:t>
            </a:r>
            <a:endParaRPr lang="ko-KR" altLang="en-US" sz="900">
              <a:solidFill>
                <a:srgbClr val="1A1A1A"/>
              </a:solidFill>
            </a:endParaRP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30E19F0B-AC6D-D340-BEED-A0F615687A3C}"/>
              </a:ext>
            </a:extLst>
          </p:cNvPr>
          <p:cNvSpPr/>
          <p:nvPr/>
        </p:nvSpPr>
        <p:spPr>
          <a:xfrm>
            <a:off x="1143000" y="4882768"/>
            <a:ext cx="7874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750">
                <a:solidFill>
                  <a:srgbClr val="0FA97F"/>
                </a:solidFill>
              </a:rPr>
              <a:t>다른 달 검색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3EC4C959-3B25-2E4F-BD71-0BC42D2547F2}"/>
              </a:ext>
            </a:extLst>
          </p:cNvPr>
          <p:cNvSpPr/>
          <p:nvPr/>
        </p:nvSpPr>
        <p:spPr>
          <a:xfrm>
            <a:off x="2006600" y="4882768"/>
            <a:ext cx="8890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750">
                <a:solidFill>
                  <a:srgbClr val="0FA97F"/>
                </a:solidFill>
              </a:rPr>
              <a:t>이체 상세보기</a:t>
            </a:r>
          </a:p>
        </p:txBody>
      </p: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F5B35B2D-BC9A-FE43-AC1F-125E18B057BF}"/>
              </a:ext>
            </a:extLst>
          </p:cNvPr>
          <p:cNvSpPr/>
          <p:nvPr/>
        </p:nvSpPr>
        <p:spPr>
          <a:xfrm>
            <a:off x="2971800" y="4882768"/>
            <a:ext cx="4318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750">
                <a:solidFill>
                  <a:srgbClr val="0FA97F"/>
                </a:solidFill>
              </a:rPr>
              <a:t>완료</a:t>
            </a:r>
          </a:p>
        </p:txBody>
      </p:sp>
      <p:sp>
        <p:nvSpPr>
          <p:cNvPr id="87" name="모서리가 둥근 직사각형 86">
            <a:extLst>
              <a:ext uri="{FF2B5EF4-FFF2-40B4-BE49-F238E27FC236}">
                <a16:creationId xmlns:a16="http://schemas.microsoft.com/office/drawing/2014/main" id="{78A285D3-43E9-6E47-BA40-467CBDEBAE7C}"/>
              </a:ext>
            </a:extLst>
          </p:cNvPr>
          <p:cNvSpPr/>
          <p:nvPr/>
        </p:nvSpPr>
        <p:spPr>
          <a:xfrm>
            <a:off x="4756670" y="1066800"/>
            <a:ext cx="1676400" cy="431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900">
                <a:solidFill>
                  <a:srgbClr val="1A1A1A"/>
                </a:solidFill>
              </a:rPr>
              <a:t>안녕하세요</a:t>
            </a:r>
            <a:r>
              <a:rPr lang="en-US" altLang="ko-KR" sz="900">
                <a:solidFill>
                  <a:srgbClr val="1A1A1A"/>
                </a:solidFill>
              </a:rPr>
              <a:t>, </a:t>
            </a:r>
            <a:r>
              <a:rPr lang="ko-KR" altLang="en-US" sz="900">
                <a:solidFill>
                  <a:srgbClr val="1A1A1A"/>
                </a:solidFill>
              </a:rPr>
              <a:t>고객님</a:t>
            </a:r>
            <a:r>
              <a:rPr lang="en-US" altLang="ko-KR" sz="900">
                <a:solidFill>
                  <a:srgbClr val="1A1A1A"/>
                </a:solidFill>
              </a:rPr>
              <a:t>.
</a:t>
            </a:r>
            <a:r>
              <a:rPr lang="ko-KR" altLang="en-US" sz="900">
                <a:solidFill>
                  <a:srgbClr val="1A1A1A"/>
                </a:solidFill>
              </a:rPr>
              <a:t>무엇을 도와드릴까요</a:t>
            </a:r>
            <a:r>
              <a:rPr lang="en-US" altLang="ko-KR" sz="900">
                <a:solidFill>
                  <a:srgbClr val="1A1A1A"/>
                </a:solidFill>
              </a:rPr>
              <a:t>?</a:t>
            </a:r>
            <a:endParaRPr lang="ko-KR" altLang="en-US" sz="900">
              <a:solidFill>
                <a:srgbClr val="1A1A1A"/>
              </a:solidFill>
            </a:endParaRP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378D38EE-1808-1E48-9E27-708757A894BE}"/>
              </a:ext>
            </a:extLst>
          </p:cNvPr>
          <p:cNvSpPr/>
          <p:nvPr/>
        </p:nvSpPr>
        <p:spPr>
          <a:xfrm>
            <a:off x="4350270" y="2768600"/>
            <a:ext cx="3073400" cy="17399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E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D1509DE-EF9B-134E-8D94-1B8C63E46AEF}"/>
              </a:ext>
            </a:extLst>
          </p:cNvPr>
          <p:cNvSpPr txBox="1"/>
          <p:nvPr/>
        </p:nvSpPr>
        <p:spPr>
          <a:xfrm>
            <a:off x="4502670" y="2844800"/>
            <a:ext cx="2159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800">
                <a:solidFill>
                  <a:srgbClr val="0FA97F"/>
                </a:solidFill>
              </a:rPr>
              <a:t>'</a:t>
            </a:r>
            <a:r>
              <a:rPr lang="ko-KR" altLang="en-US" sz="800">
                <a:solidFill>
                  <a:srgbClr val="0FA97F"/>
                </a:solidFill>
              </a:rPr>
              <a:t>이마트</a:t>
            </a:r>
            <a:r>
              <a:rPr lang="en-US" altLang="ko-KR" sz="800">
                <a:solidFill>
                  <a:srgbClr val="0FA97F"/>
                </a:solidFill>
              </a:rPr>
              <a:t>' </a:t>
            </a:r>
            <a:r>
              <a:rPr lang="ko-KR" altLang="en-US" sz="800">
                <a:solidFill>
                  <a:srgbClr val="0FA97F"/>
                </a:solidFill>
              </a:rPr>
              <a:t>검색 결과 </a:t>
            </a:r>
            <a:r>
              <a:rPr lang="en-US" altLang="ko-KR" sz="800">
                <a:solidFill>
                  <a:srgbClr val="0FA97F"/>
                </a:solidFill>
              </a:rPr>
              <a:t>(</a:t>
            </a:r>
            <a:r>
              <a:rPr lang="ko-KR" altLang="en-US" sz="800">
                <a:solidFill>
                  <a:srgbClr val="0FA97F"/>
                </a:solidFill>
              </a:rPr>
              <a:t>최근 </a:t>
            </a:r>
            <a:r>
              <a:rPr lang="en-US" altLang="ko-KR" sz="800">
                <a:solidFill>
                  <a:srgbClr val="0FA97F"/>
                </a:solidFill>
              </a:rPr>
              <a:t>3</a:t>
            </a:r>
            <a:r>
              <a:rPr lang="ko-KR" altLang="en-US" sz="800">
                <a:solidFill>
                  <a:srgbClr val="0FA97F"/>
                </a:solidFill>
              </a:rPr>
              <a:t>개월</a:t>
            </a:r>
            <a:r>
              <a:rPr lang="en-US" altLang="ko-KR" sz="800">
                <a:solidFill>
                  <a:srgbClr val="0FA97F"/>
                </a:solidFill>
              </a:rPr>
              <a:t>)</a:t>
            </a:r>
            <a:endParaRPr lang="ko-KR" altLang="en-US" sz="800">
              <a:solidFill>
                <a:srgbClr val="0FA97F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3653A87-8CA5-8A47-97E3-F3EF5DEF8EA3}"/>
              </a:ext>
            </a:extLst>
          </p:cNvPr>
          <p:cNvSpPr/>
          <p:nvPr/>
        </p:nvSpPr>
        <p:spPr>
          <a:xfrm>
            <a:off x="4502670" y="30480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07028FA-3C47-3247-B657-F772EF2AD0D0}"/>
              </a:ext>
            </a:extLst>
          </p:cNvPr>
          <p:cNvSpPr txBox="1"/>
          <p:nvPr/>
        </p:nvSpPr>
        <p:spPr>
          <a:xfrm>
            <a:off x="4502670" y="3111500"/>
            <a:ext cx="1651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1A1A1A"/>
                </a:solidFill>
              </a:rPr>
              <a:t>이마트 성수점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15B483F-6120-974A-8282-E13FFB24D4BD}"/>
              </a:ext>
            </a:extLst>
          </p:cNvPr>
          <p:cNvSpPr txBox="1"/>
          <p:nvPr/>
        </p:nvSpPr>
        <p:spPr>
          <a:xfrm>
            <a:off x="6128270" y="3111500"/>
            <a:ext cx="1143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1A1A1A"/>
                </a:solidFill>
              </a:rPr>
              <a:t>-45,000</a:t>
            </a:r>
            <a:r>
              <a:rPr lang="ko-KR" altLang="en-US" sz="900" b="1">
                <a:solidFill>
                  <a:srgbClr val="1A1A1A"/>
                </a:solidFill>
              </a:rPr>
              <a:t>원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195BA6C-0892-BE4F-A779-0360A588F196}"/>
              </a:ext>
            </a:extLst>
          </p:cNvPr>
          <p:cNvSpPr txBox="1"/>
          <p:nvPr/>
        </p:nvSpPr>
        <p:spPr>
          <a:xfrm>
            <a:off x="4502670" y="3276600"/>
            <a:ext cx="1524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800">
                <a:solidFill>
                  <a:srgbClr val="5A6B66"/>
                </a:solidFill>
              </a:rPr>
              <a:t>08.03</a:t>
            </a:r>
            <a:endParaRPr lang="ko-KR" altLang="en-US" sz="800">
              <a:solidFill>
                <a:srgbClr val="5A6B66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D5D52283-8B8A-494C-BDFA-C87C4A66981A}"/>
              </a:ext>
            </a:extLst>
          </p:cNvPr>
          <p:cNvSpPr/>
          <p:nvPr/>
        </p:nvSpPr>
        <p:spPr>
          <a:xfrm>
            <a:off x="4502670" y="35052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50E227C-A096-2948-9188-CE5845CA4EAA}"/>
              </a:ext>
            </a:extLst>
          </p:cNvPr>
          <p:cNvSpPr txBox="1"/>
          <p:nvPr/>
        </p:nvSpPr>
        <p:spPr>
          <a:xfrm>
            <a:off x="4502670" y="3568700"/>
            <a:ext cx="1651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1A1A1A"/>
                </a:solidFill>
              </a:rPr>
              <a:t>이마트 왕십리점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AE9A29B-AEFB-E24C-898A-615D75D7A4D4}"/>
              </a:ext>
            </a:extLst>
          </p:cNvPr>
          <p:cNvSpPr txBox="1"/>
          <p:nvPr/>
        </p:nvSpPr>
        <p:spPr>
          <a:xfrm>
            <a:off x="6128270" y="3568700"/>
            <a:ext cx="1143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1A1A1A"/>
                </a:solidFill>
              </a:rPr>
              <a:t>-62,300</a:t>
            </a:r>
            <a:r>
              <a:rPr lang="ko-KR" altLang="en-US" sz="900" b="1">
                <a:solidFill>
                  <a:srgbClr val="1A1A1A"/>
                </a:solidFill>
              </a:rPr>
              <a:t>원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B2150FB-D8F1-8A4E-9F05-437F72CAEE0F}"/>
              </a:ext>
            </a:extLst>
          </p:cNvPr>
          <p:cNvSpPr txBox="1"/>
          <p:nvPr/>
        </p:nvSpPr>
        <p:spPr>
          <a:xfrm>
            <a:off x="4502670" y="3733800"/>
            <a:ext cx="1524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800">
                <a:solidFill>
                  <a:srgbClr val="5A6B66"/>
                </a:solidFill>
              </a:rPr>
              <a:t>07.12</a:t>
            </a:r>
            <a:endParaRPr lang="ko-KR" altLang="en-US" sz="800">
              <a:solidFill>
                <a:srgbClr val="5A6B66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4043601-F40C-E940-A032-00B7995893F7}"/>
              </a:ext>
            </a:extLst>
          </p:cNvPr>
          <p:cNvSpPr/>
          <p:nvPr/>
        </p:nvSpPr>
        <p:spPr>
          <a:xfrm>
            <a:off x="4502670" y="39624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9DBF8C9-4ED7-1B42-A69D-6983B15E6DC5}"/>
              </a:ext>
            </a:extLst>
          </p:cNvPr>
          <p:cNvSpPr txBox="1"/>
          <p:nvPr/>
        </p:nvSpPr>
        <p:spPr>
          <a:xfrm>
            <a:off x="4502670" y="4025900"/>
            <a:ext cx="1651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1A1A1A"/>
                </a:solidFill>
              </a:rPr>
              <a:t>이마트 온라인몰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6D46789-5A27-EE4C-BB16-DADAF66E3F5B}"/>
              </a:ext>
            </a:extLst>
          </p:cNvPr>
          <p:cNvSpPr txBox="1"/>
          <p:nvPr/>
        </p:nvSpPr>
        <p:spPr>
          <a:xfrm>
            <a:off x="6128270" y="4025900"/>
            <a:ext cx="1143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1A1A1A"/>
                </a:solidFill>
              </a:rPr>
              <a:t>-118,700</a:t>
            </a:r>
            <a:r>
              <a:rPr lang="ko-KR" altLang="en-US" sz="900" b="1">
                <a:solidFill>
                  <a:srgbClr val="1A1A1A"/>
                </a:solidFill>
              </a:rPr>
              <a:t>원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F2D2D3F-8208-9241-BF74-34C3B70DF729}"/>
              </a:ext>
            </a:extLst>
          </p:cNvPr>
          <p:cNvSpPr txBox="1"/>
          <p:nvPr/>
        </p:nvSpPr>
        <p:spPr>
          <a:xfrm>
            <a:off x="4502670" y="4191000"/>
            <a:ext cx="1524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800">
                <a:solidFill>
                  <a:srgbClr val="5A6B66"/>
                </a:solidFill>
              </a:rPr>
              <a:t>06.28</a:t>
            </a:r>
            <a:endParaRPr lang="ko-KR" altLang="en-US" sz="800">
              <a:solidFill>
                <a:srgbClr val="5A6B66"/>
              </a:solidFill>
            </a:endParaRPr>
          </a:p>
        </p:txBody>
      </p:sp>
      <p:sp>
        <p:nvSpPr>
          <p:cNvPr id="102" name="모서리가 둥근 직사각형 101">
            <a:extLst>
              <a:ext uri="{FF2B5EF4-FFF2-40B4-BE49-F238E27FC236}">
                <a16:creationId xmlns:a16="http://schemas.microsoft.com/office/drawing/2014/main" id="{2333C07C-0856-4045-8B6F-24DC486726A2}"/>
              </a:ext>
            </a:extLst>
          </p:cNvPr>
          <p:cNvSpPr/>
          <p:nvPr/>
        </p:nvSpPr>
        <p:spPr>
          <a:xfrm>
            <a:off x="4756669" y="4597400"/>
            <a:ext cx="2343807" cy="431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900">
                <a:solidFill>
                  <a:srgbClr val="1A1A1A"/>
                </a:solidFill>
              </a:rPr>
              <a:t>이마트 결제는 총 </a:t>
            </a:r>
            <a:r>
              <a:rPr lang="en-US" altLang="ko-KR" sz="900">
                <a:solidFill>
                  <a:srgbClr val="1A1A1A"/>
                </a:solidFill>
              </a:rPr>
              <a:t>3</a:t>
            </a:r>
            <a:r>
              <a:rPr lang="ko-KR" altLang="en-US" sz="900">
                <a:solidFill>
                  <a:srgbClr val="1A1A1A"/>
                </a:solidFill>
              </a:rPr>
              <a:t>건</a:t>
            </a:r>
            <a:r>
              <a:rPr lang="en-US" altLang="ko-KR" sz="900">
                <a:solidFill>
                  <a:srgbClr val="1A1A1A"/>
                </a:solidFill>
              </a:rPr>
              <a:t>, 226,000</a:t>
            </a:r>
            <a:r>
              <a:rPr lang="ko-KR" altLang="en-US" sz="900">
                <a:solidFill>
                  <a:srgbClr val="1A1A1A"/>
                </a:solidFill>
              </a:rPr>
              <a:t>원입니다</a:t>
            </a:r>
            <a:r>
              <a:rPr lang="en-US" altLang="ko-KR" sz="900">
                <a:solidFill>
                  <a:srgbClr val="1A1A1A"/>
                </a:solidFill>
              </a:rPr>
              <a:t>.</a:t>
            </a:r>
            <a:endParaRPr lang="ko-KR" altLang="en-US" sz="900">
              <a:solidFill>
                <a:srgbClr val="1A1A1A"/>
              </a:solidFill>
            </a:endParaRPr>
          </a:p>
        </p:txBody>
      </p:sp>
      <p:sp>
        <p:nvSpPr>
          <p:cNvPr id="103" name="모서리가 둥근 직사각형 102">
            <a:extLst>
              <a:ext uri="{FF2B5EF4-FFF2-40B4-BE49-F238E27FC236}">
                <a16:creationId xmlns:a16="http://schemas.microsoft.com/office/drawing/2014/main" id="{3F1A8F23-40D0-5948-A82F-4A20A8EBB1B7}"/>
              </a:ext>
            </a:extLst>
          </p:cNvPr>
          <p:cNvSpPr/>
          <p:nvPr/>
        </p:nvSpPr>
        <p:spPr>
          <a:xfrm>
            <a:off x="4751747" y="5104009"/>
            <a:ext cx="9398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750" dirty="0">
                <a:solidFill>
                  <a:srgbClr val="0FA97F"/>
                </a:solidFill>
              </a:rPr>
              <a:t>다른 가맹점 검색</a:t>
            </a:r>
          </a:p>
        </p:txBody>
      </p:sp>
      <p:sp>
        <p:nvSpPr>
          <p:cNvPr id="104" name="모서리가 둥근 직사각형 103">
            <a:extLst>
              <a:ext uri="{FF2B5EF4-FFF2-40B4-BE49-F238E27FC236}">
                <a16:creationId xmlns:a16="http://schemas.microsoft.com/office/drawing/2014/main" id="{1E4B0D16-D453-1F41-B5EF-D9A8F6D0FC2E}"/>
              </a:ext>
            </a:extLst>
          </p:cNvPr>
          <p:cNvSpPr/>
          <p:nvPr/>
        </p:nvSpPr>
        <p:spPr>
          <a:xfrm>
            <a:off x="5767747" y="5104009"/>
            <a:ext cx="6604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750">
                <a:solidFill>
                  <a:srgbClr val="0FA97F"/>
                </a:solidFill>
              </a:rPr>
              <a:t>기간 변경</a:t>
            </a:r>
          </a:p>
        </p:txBody>
      </p:sp>
      <p:sp>
        <p:nvSpPr>
          <p:cNvPr id="105" name="모서리가 둥근 직사각형 104">
            <a:extLst>
              <a:ext uri="{FF2B5EF4-FFF2-40B4-BE49-F238E27FC236}">
                <a16:creationId xmlns:a16="http://schemas.microsoft.com/office/drawing/2014/main" id="{8DAA6F8E-F0DF-9946-B4B7-3CB666F784AD}"/>
              </a:ext>
            </a:extLst>
          </p:cNvPr>
          <p:cNvSpPr/>
          <p:nvPr/>
        </p:nvSpPr>
        <p:spPr>
          <a:xfrm>
            <a:off x="6504347" y="5104009"/>
            <a:ext cx="4318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750">
                <a:solidFill>
                  <a:srgbClr val="0FA97F"/>
                </a:solidFill>
              </a:rPr>
              <a:t>완료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BA0FEF4B-0FC8-05D7-69E0-7E263C0E40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687164" y="2030543"/>
            <a:ext cx="449706" cy="449705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0804C509-2883-0AC4-23A7-EA8AB40383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695760" y="4125912"/>
            <a:ext cx="449706" cy="44970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A54B6542-C7B6-2C04-C124-D13C7B1874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4318435" y="2030542"/>
            <a:ext cx="449706" cy="44970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9064C54-A4F4-C11A-D28E-35CE72C119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4282469" y="4572000"/>
            <a:ext cx="449706" cy="44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727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32780862-EBBE-054E-EE87-5180E9152952}"/>
              </a:ext>
            </a:extLst>
          </p:cNvPr>
          <p:cNvGrpSpPr/>
          <p:nvPr/>
        </p:nvGrpSpPr>
        <p:grpSpPr>
          <a:xfrm>
            <a:off x="454191" y="0"/>
            <a:ext cx="3563007" cy="6858000"/>
            <a:chOff x="2532993" y="0"/>
            <a:chExt cx="3563007" cy="6858000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73D4B4DB-24FF-2B86-C2F3-3EC5D7852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2993" y="0"/>
              <a:ext cx="3563007" cy="6858000"/>
            </a:xfrm>
            <a:prstGeom prst="rect">
              <a:avLst/>
            </a:prstGeom>
          </p:spPr>
        </p:pic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675004B-A939-5BCD-F28F-48C466C896B8}"/>
                </a:ext>
              </a:extLst>
            </p:cNvPr>
            <p:cNvSpPr/>
            <p:nvPr/>
          </p:nvSpPr>
          <p:spPr>
            <a:xfrm>
              <a:off x="2677100" y="958468"/>
              <a:ext cx="3294042" cy="4831574"/>
            </a:xfrm>
            <a:prstGeom prst="rect">
              <a:avLst/>
            </a:prstGeom>
            <a:solidFill>
              <a:srgbClr val="EEF8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7D21B51A-387D-13D7-F2F0-C20ADFCA90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642366" y="2202094"/>
            <a:ext cx="449706" cy="449705"/>
          </a:xfrm>
          <a:prstGeom prst="rect">
            <a:avLst/>
          </a:prstGeom>
        </p:spPr>
      </p:pic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7BD2ED54-BA25-9920-8ACF-76E86D045CC9}"/>
              </a:ext>
            </a:extLst>
          </p:cNvPr>
          <p:cNvSpPr/>
          <p:nvPr/>
        </p:nvSpPr>
        <p:spPr>
          <a:xfrm>
            <a:off x="1089988" y="2290994"/>
            <a:ext cx="2260600" cy="551305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sz="900" dirty="0">
                <a:solidFill>
                  <a:srgbClr val="1A1A1A"/>
                </a:solidFill>
              </a:rPr>
              <a:t>네</a:t>
            </a:r>
            <a:r>
              <a:rPr kumimoji="1" lang="en-US" altLang="ko-KR" sz="900" dirty="0">
                <a:solidFill>
                  <a:srgbClr val="1A1A1A"/>
                </a:solidFill>
              </a:rPr>
              <a:t>, </a:t>
            </a:r>
            <a:r>
              <a:rPr kumimoji="1" lang="ko-KR" altLang="en-US" sz="900" dirty="0" err="1">
                <a:solidFill>
                  <a:srgbClr val="1A1A1A"/>
                </a:solidFill>
              </a:rPr>
              <a:t>이번달</a:t>
            </a:r>
            <a:r>
              <a:rPr kumimoji="1" lang="ko-KR" altLang="en-US" sz="900" dirty="0">
                <a:solidFill>
                  <a:srgbClr val="1A1A1A"/>
                </a:solidFill>
              </a:rPr>
              <a:t> 이체 내역 처리 내역을 보여드리겠습니다</a:t>
            </a:r>
            <a:r>
              <a:rPr kumimoji="1" lang="en-US" altLang="ko-KR" sz="900" dirty="0">
                <a:solidFill>
                  <a:srgbClr val="1A1A1A"/>
                </a:solidFill>
              </a:rPr>
              <a:t>.</a:t>
            </a:r>
            <a:endParaRPr kumimoji="1" lang="ko-KR" altLang="en-US" sz="900" dirty="0">
              <a:solidFill>
                <a:srgbClr val="1A1A1A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B8A8E32D-EBB8-47F1-36F3-DBA7DA97322D}"/>
              </a:ext>
            </a:extLst>
          </p:cNvPr>
          <p:cNvSpPr/>
          <p:nvPr/>
        </p:nvSpPr>
        <p:spPr>
          <a:xfrm>
            <a:off x="1953588" y="1717204"/>
            <a:ext cx="1803400" cy="457200"/>
          </a:xfrm>
          <a:prstGeom prst="roundRect">
            <a:avLst/>
          </a:prstGeom>
          <a:solidFill>
            <a:srgbClr val="BCE5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sz="900" dirty="0">
                <a:solidFill>
                  <a:srgbClr val="1A1A1A"/>
                </a:solidFill>
              </a:rPr>
              <a:t>이번달에 이체내역 </a:t>
            </a:r>
            <a:r>
              <a:rPr kumimoji="1" lang="ko-KR" altLang="en-US" sz="900" dirty="0" err="1">
                <a:solidFill>
                  <a:srgbClr val="1A1A1A"/>
                </a:solidFill>
              </a:rPr>
              <a:t>처리된거</a:t>
            </a:r>
            <a:r>
              <a:rPr kumimoji="1" lang="ko-KR" altLang="en-US" sz="900" dirty="0">
                <a:solidFill>
                  <a:srgbClr val="1A1A1A"/>
                </a:solidFill>
              </a:rPr>
              <a:t> 알려줘</a:t>
            </a: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2A4930EE-DC8F-EB11-2BDD-81AE9384E4F1}"/>
              </a:ext>
            </a:extLst>
          </p:cNvPr>
          <p:cNvSpPr/>
          <p:nvPr/>
        </p:nvSpPr>
        <p:spPr>
          <a:xfrm>
            <a:off x="683588" y="2936725"/>
            <a:ext cx="3073400" cy="2356996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E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6E6A2318-48FD-4982-CC74-AAEDC4AD98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095" r="3798" b="70000"/>
          <a:stretch>
            <a:fillRect/>
          </a:stretch>
        </p:blipFill>
        <p:spPr>
          <a:xfrm>
            <a:off x="838200" y="3127225"/>
            <a:ext cx="2768600" cy="812800"/>
          </a:xfrm>
          <a:prstGeom prst="roundRect">
            <a:avLst>
              <a:gd name="adj" fmla="val 9375"/>
            </a:avLst>
          </a:prstGeom>
          <a:effectLst>
            <a:softEdge rad="63500"/>
          </a:effectLst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31420374-1426-5D2D-716F-463F14487E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6" t="60000" r="4048" b="22963"/>
          <a:stretch>
            <a:fillRect/>
          </a:stretch>
        </p:blipFill>
        <p:spPr>
          <a:xfrm>
            <a:off x="838200" y="4073574"/>
            <a:ext cx="2768600" cy="107753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6D087EB-6181-064A-B600-43DDBF983529}"/>
              </a:ext>
            </a:extLst>
          </p:cNvPr>
          <p:cNvSpPr/>
          <p:nvPr/>
        </p:nvSpPr>
        <p:spPr>
          <a:xfrm>
            <a:off x="838200" y="336342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B3C8379F-1644-293C-4631-0DC1F8E8BE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642366" y="5270500"/>
            <a:ext cx="449706" cy="449705"/>
          </a:xfrm>
          <a:prstGeom prst="rect">
            <a:avLst/>
          </a:prstGeom>
        </p:spPr>
      </p:pic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583CFF79-B350-E28C-C548-8B4488BCB4FD}"/>
              </a:ext>
            </a:extLst>
          </p:cNvPr>
          <p:cNvSpPr/>
          <p:nvPr/>
        </p:nvSpPr>
        <p:spPr>
          <a:xfrm>
            <a:off x="1092200" y="5359400"/>
            <a:ext cx="2565400" cy="63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sz="850" dirty="0">
                <a:solidFill>
                  <a:srgbClr val="1A1A1A"/>
                </a:solidFill>
                <a:latin typeface="맑은 고딕"/>
                <a:ea typeface="맑은 고딕"/>
              </a:rPr>
              <a:t>추가로 조회하실 기간이나 조건이 </a:t>
            </a:r>
            <a:r>
              <a:rPr kumimoji="1" lang="ko-KR" altLang="en-US" sz="850" dirty="0" err="1">
                <a:solidFill>
                  <a:srgbClr val="1A1A1A"/>
                </a:solidFill>
                <a:latin typeface="맑은 고딕"/>
                <a:ea typeface="맑은 고딕"/>
              </a:rPr>
              <a:t>있으신가요</a:t>
            </a:r>
            <a:r>
              <a:rPr kumimoji="1" lang="en-US" altLang="ko-KR" sz="850" dirty="0">
                <a:solidFill>
                  <a:srgbClr val="1A1A1A"/>
                </a:solidFill>
                <a:latin typeface="맑은 고딕"/>
                <a:ea typeface="맑은 고딕"/>
              </a:rPr>
              <a:t>? </a:t>
            </a:r>
            <a:r>
              <a:rPr kumimoji="1" lang="ko-KR" altLang="en-US" sz="850" dirty="0">
                <a:solidFill>
                  <a:srgbClr val="1A1A1A"/>
                </a:solidFill>
                <a:latin typeface="맑은 고딕"/>
                <a:ea typeface="맑은 고딕"/>
              </a:rPr>
              <a:t>기간과 조건을 선택하시면 해당 내역만 모아 </a:t>
            </a:r>
            <a:endParaRPr kumimoji="1" lang="en-US" altLang="ko-KR" sz="850" dirty="0">
              <a:solidFill>
                <a:srgbClr val="1A1A1A"/>
              </a:solidFill>
              <a:latin typeface="맑은 고딕"/>
              <a:ea typeface="맑은 고딕"/>
            </a:endParaRPr>
          </a:p>
          <a:p>
            <a:pPr algn="ctr"/>
            <a:r>
              <a:rPr kumimoji="1" lang="ko-KR" altLang="en-US" sz="850" dirty="0">
                <a:solidFill>
                  <a:srgbClr val="1A1A1A"/>
                </a:solidFill>
                <a:latin typeface="맑은 고딕"/>
                <a:ea typeface="맑은 고딕"/>
              </a:rPr>
              <a:t>보여 드리겠습니다</a:t>
            </a:r>
            <a:r>
              <a:rPr kumimoji="1" lang="en-US" altLang="ko-KR" sz="850" dirty="0">
                <a:solidFill>
                  <a:srgbClr val="1A1A1A"/>
                </a:solidFill>
                <a:latin typeface="맑은 고딕"/>
                <a:ea typeface="맑은 고딕"/>
              </a:rPr>
              <a:t>.</a:t>
            </a:r>
            <a:endParaRPr kumimoji="1" lang="ko-KR" altLang="en-US" sz="85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5925560-43D1-D873-EED7-5F2C15FDEDAC}"/>
              </a:ext>
            </a:extLst>
          </p:cNvPr>
          <p:cNvGrpSpPr/>
          <p:nvPr/>
        </p:nvGrpSpPr>
        <p:grpSpPr>
          <a:xfrm>
            <a:off x="4142199" y="0"/>
            <a:ext cx="3563007" cy="6858000"/>
            <a:chOff x="2532993" y="0"/>
            <a:chExt cx="3563007" cy="6858000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6E77117B-DF5A-B451-D554-A51925CE4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2993" y="0"/>
              <a:ext cx="3563007" cy="6858000"/>
            </a:xfrm>
            <a:prstGeom prst="rect">
              <a:avLst/>
            </a:prstGeom>
          </p:spPr>
        </p:pic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596A0CFE-4C66-9A02-7F4B-28691D88451A}"/>
                </a:ext>
              </a:extLst>
            </p:cNvPr>
            <p:cNvSpPr/>
            <p:nvPr/>
          </p:nvSpPr>
          <p:spPr>
            <a:xfrm>
              <a:off x="2677100" y="958468"/>
              <a:ext cx="3294042" cy="4831574"/>
            </a:xfrm>
            <a:prstGeom prst="rect">
              <a:avLst/>
            </a:prstGeom>
            <a:solidFill>
              <a:srgbClr val="EEF8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19DFE6D2-C3F8-8677-273D-EE047917E742}"/>
              </a:ext>
            </a:extLst>
          </p:cNvPr>
          <p:cNvSpPr/>
          <p:nvPr/>
        </p:nvSpPr>
        <p:spPr>
          <a:xfrm>
            <a:off x="4387002" y="1034944"/>
            <a:ext cx="3073400" cy="2356996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E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3929A0A-D0A0-49C1-947B-CE20BF0DC0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668286" y="1068878"/>
            <a:ext cx="449706" cy="449705"/>
          </a:xfrm>
          <a:prstGeom prst="rect">
            <a:avLst/>
          </a:prstGeom>
        </p:spPr>
      </p:pic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2EDF8F99-2E55-2532-FAF4-2F4D090B6BD9}"/>
              </a:ext>
            </a:extLst>
          </p:cNvPr>
          <p:cNvSpPr/>
          <p:nvPr/>
        </p:nvSpPr>
        <p:spPr>
          <a:xfrm>
            <a:off x="1122915" y="1157778"/>
            <a:ext cx="1676400" cy="431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900">
                <a:solidFill>
                  <a:srgbClr val="1A1A1A"/>
                </a:solidFill>
              </a:rPr>
              <a:t>안녕하세요</a:t>
            </a:r>
            <a:r>
              <a:rPr lang="en-US" altLang="ko-KR" sz="900">
                <a:solidFill>
                  <a:srgbClr val="1A1A1A"/>
                </a:solidFill>
              </a:rPr>
              <a:t>, </a:t>
            </a:r>
            <a:r>
              <a:rPr lang="ko-KR" altLang="en-US" sz="900">
                <a:solidFill>
                  <a:srgbClr val="1A1A1A"/>
                </a:solidFill>
              </a:rPr>
              <a:t>고객님</a:t>
            </a:r>
            <a:r>
              <a:rPr lang="en-US" altLang="ko-KR" sz="900">
                <a:solidFill>
                  <a:srgbClr val="1A1A1A"/>
                </a:solidFill>
              </a:rPr>
              <a:t>.
</a:t>
            </a:r>
            <a:r>
              <a:rPr lang="ko-KR" altLang="en-US" sz="900">
                <a:solidFill>
                  <a:srgbClr val="1A1A1A"/>
                </a:solidFill>
              </a:rPr>
              <a:t>무엇을 도와드릴까요</a:t>
            </a:r>
            <a:r>
              <a:rPr lang="en-US" altLang="ko-KR" sz="900">
                <a:solidFill>
                  <a:srgbClr val="1A1A1A"/>
                </a:solidFill>
              </a:rPr>
              <a:t>?</a:t>
            </a:r>
            <a:endParaRPr lang="ko-KR" altLang="en-US" sz="900">
              <a:solidFill>
                <a:srgbClr val="1A1A1A"/>
              </a:solidFill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6C6E5F14-F6B2-917A-DA46-A89CD6161E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9" t="32484" r="3490" b="41639"/>
          <a:stretch>
            <a:fillRect/>
          </a:stretch>
        </p:blipFill>
        <p:spPr>
          <a:xfrm>
            <a:off x="4443990" y="1311955"/>
            <a:ext cx="2976963" cy="1774670"/>
          </a:xfrm>
          <a:prstGeom prst="rect">
            <a:avLst/>
          </a:prstGeom>
        </p:spPr>
      </p:pic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9DF88E39-D429-5F42-B904-B227AE882A44}"/>
              </a:ext>
            </a:extLst>
          </p:cNvPr>
          <p:cNvSpPr/>
          <p:nvPr/>
        </p:nvSpPr>
        <p:spPr>
          <a:xfrm>
            <a:off x="4775200" y="3517900"/>
            <a:ext cx="2260600" cy="457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900">
                <a:solidFill>
                  <a:srgbClr val="1A1A1A"/>
                </a:solidFill>
                <a:latin typeface="맑은 고딕"/>
                <a:ea typeface="맑은 고딕"/>
              </a:rPr>
              <a:t>조회 기간과 조건을 선택한 뒤 조회를 눌러 주세요</a:t>
            </a:r>
            <a:r>
              <a:rPr lang="en-US" altLang="ko-KR" sz="900">
                <a:solidFill>
                  <a:srgbClr val="1A1A1A"/>
                </a:solidFill>
                <a:latin typeface="맑은 고딕"/>
                <a:ea typeface="맑은 고딕"/>
              </a:rPr>
              <a:t>.</a:t>
            </a:r>
            <a:endParaRPr lang="ko-KR" altLang="en-US" sz="90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pic>
        <p:nvPicPr>
          <p:cNvPr id="60" name="Copied Picture 60">
            <a:extLst>
              <a:ext uri="{FF2B5EF4-FFF2-40B4-BE49-F238E27FC236}">
                <a16:creationId xmlns:a16="http://schemas.microsoft.com/office/drawing/2014/main" id="{B3C8379F-1644-293C-4631-0DC1F8E8BE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4330700" y="3429000"/>
            <a:ext cx="444500" cy="4445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BDBB2100-27FC-A3BD-5732-4B92C695AF62}"/>
              </a:ext>
            </a:extLst>
          </p:cNvPr>
          <p:cNvGrpSpPr/>
          <p:nvPr/>
        </p:nvGrpSpPr>
        <p:grpSpPr>
          <a:xfrm>
            <a:off x="7849313" y="0"/>
            <a:ext cx="3563007" cy="6858000"/>
            <a:chOff x="2532993" y="0"/>
            <a:chExt cx="3563007" cy="6858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939441A-8C67-E40A-8201-71A8F4F72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2993" y="0"/>
              <a:ext cx="3563007" cy="685800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35F20AA-8108-3A76-7896-91656EEE9AD7}"/>
                </a:ext>
              </a:extLst>
            </p:cNvPr>
            <p:cNvSpPr/>
            <p:nvPr/>
          </p:nvSpPr>
          <p:spPr>
            <a:xfrm>
              <a:off x="2677100" y="958468"/>
              <a:ext cx="3294042" cy="4831574"/>
            </a:xfrm>
            <a:prstGeom prst="rect">
              <a:avLst/>
            </a:prstGeom>
            <a:solidFill>
              <a:srgbClr val="EEF8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640E2046-7BBB-71F4-2EAE-D2AC2B29D8F8}"/>
              </a:ext>
            </a:extLst>
          </p:cNvPr>
          <p:cNvSpPr/>
          <p:nvPr/>
        </p:nvSpPr>
        <p:spPr>
          <a:xfrm>
            <a:off x="8093689" y="1388668"/>
            <a:ext cx="3073400" cy="3881832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E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FC6AD0C7-3497-2C40-EC64-F80B33A25A15}"/>
              </a:ext>
            </a:extLst>
          </p:cNvPr>
          <p:cNvSpPr/>
          <p:nvPr/>
        </p:nvSpPr>
        <p:spPr>
          <a:xfrm>
            <a:off x="4443990" y="4064000"/>
            <a:ext cx="3073400" cy="2280032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E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D7A4EF-69E4-6061-9B9F-09E165AEB4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550" r="-541" b="63724"/>
          <a:stretch>
            <a:fillRect/>
          </a:stretch>
        </p:blipFill>
        <p:spPr>
          <a:xfrm>
            <a:off x="4526090" y="4240834"/>
            <a:ext cx="2892225" cy="1539331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8B502C2-195F-1EEE-9099-51B5C3828B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095" r="3798" b="79787"/>
          <a:stretch>
            <a:fillRect/>
          </a:stretch>
        </p:blipFill>
        <p:spPr>
          <a:xfrm>
            <a:off x="474095" y="6779094"/>
            <a:ext cx="2768600" cy="144585"/>
          </a:xfrm>
          <a:prstGeom prst="roundRect">
            <a:avLst>
              <a:gd name="adj" fmla="val 9375"/>
            </a:avLst>
          </a:prstGeom>
          <a:effectLst>
            <a:softEdge rad="63500"/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0D6A433-E640-A54F-05AF-7C36A23066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328"/>
          <a:stretch>
            <a:fillRect/>
          </a:stretch>
        </p:blipFill>
        <p:spPr>
          <a:xfrm>
            <a:off x="4141304" y="6067053"/>
            <a:ext cx="3563007" cy="80042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9CB57C7-D2BE-9F65-82DB-E04FD5E082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142" r="2829" b="8486"/>
          <a:stretch>
            <a:fillRect/>
          </a:stretch>
        </p:blipFill>
        <p:spPr>
          <a:xfrm>
            <a:off x="8099224" y="1067958"/>
            <a:ext cx="3067866" cy="372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920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C1B9F60-1061-2113-194E-F62A0AEFEECF}"/>
              </a:ext>
            </a:extLst>
          </p:cNvPr>
          <p:cNvGrpSpPr/>
          <p:nvPr/>
        </p:nvGrpSpPr>
        <p:grpSpPr>
          <a:xfrm>
            <a:off x="502039" y="0"/>
            <a:ext cx="3563007" cy="6858000"/>
            <a:chOff x="2532993" y="0"/>
            <a:chExt cx="3563007" cy="6858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E4CC37F-8669-4A56-E6D1-966B61534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2993" y="0"/>
              <a:ext cx="3563007" cy="685800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D6D6C15-D3CE-081C-DDEE-BD7D45954AC4}"/>
                </a:ext>
              </a:extLst>
            </p:cNvPr>
            <p:cNvSpPr/>
            <p:nvPr/>
          </p:nvSpPr>
          <p:spPr>
            <a:xfrm>
              <a:off x="2677100" y="958468"/>
              <a:ext cx="3294042" cy="4831574"/>
            </a:xfrm>
            <a:prstGeom prst="rect">
              <a:avLst/>
            </a:prstGeom>
            <a:solidFill>
              <a:srgbClr val="EEF8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E788B12-5B67-B691-E670-8B7C312685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690214" y="1603829"/>
            <a:ext cx="449706" cy="449705"/>
          </a:xfrm>
          <a:prstGeom prst="rect">
            <a:avLst/>
          </a:prstGeom>
        </p:spPr>
      </p:pic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886C685-3348-0E02-7574-F7921276564B}"/>
              </a:ext>
            </a:extLst>
          </p:cNvPr>
          <p:cNvSpPr/>
          <p:nvPr/>
        </p:nvSpPr>
        <p:spPr>
          <a:xfrm>
            <a:off x="1137836" y="1676400"/>
            <a:ext cx="2260600" cy="660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sz="900">
                <a:solidFill>
                  <a:srgbClr val="1A1A1A"/>
                </a:solidFill>
              </a:rPr>
              <a:t>네</a:t>
            </a:r>
            <a:r>
              <a:rPr kumimoji="1" lang="en-US" altLang="ko-KR" sz="900">
                <a:solidFill>
                  <a:srgbClr val="1A1A1A"/>
                </a:solidFill>
              </a:rPr>
              <a:t>, </a:t>
            </a:r>
            <a:r>
              <a:rPr kumimoji="1" lang="ko-KR" altLang="en-US" sz="900">
                <a:solidFill>
                  <a:srgbClr val="1A1A1A"/>
                </a:solidFill>
              </a:rPr>
              <a:t>이번달 이체 내역 중 처리에 실패한 건을 확인해 드리겠습니다</a:t>
            </a:r>
            <a:r>
              <a:rPr kumimoji="1" lang="en-US" altLang="ko-KR" sz="900">
                <a:solidFill>
                  <a:srgbClr val="1A1A1A"/>
                </a:solidFill>
              </a:rPr>
              <a:t>.</a:t>
            </a:r>
            <a:endParaRPr kumimoji="1" lang="ko-KR" altLang="en-US" sz="900" dirty="0">
              <a:solidFill>
                <a:srgbClr val="1A1A1A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2D48E9E-36C6-1083-89F8-C5389F4377C8}"/>
              </a:ext>
            </a:extLst>
          </p:cNvPr>
          <p:cNvSpPr/>
          <p:nvPr/>
        </p:nvSpPr>
        <p:spPr>
          <a:xfrm>
            <a:off x="2001436" y="1117600"/>
            <a:ext cx="1803400" cy="457200"/>
          </a:xfrm>
          <a:prstGeom prst="roundRect">
            <a:avLst/>
          </a:prstGeom>
          <a:solidFill>
            <a:srgbClr val="BCE5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sz="900">
                <a:solidFill>
                  <a:srgbClr val="1A1A1A"/>
                </a:solidFill>
              </a:rPr>
              <a:t>이번달에 오류 난 이체 내역 찾아줘</a:t>
            </a:r>
            <a:r>
              <a:rPr kumimoji="1" lang="en-US" altLang="ko-KR" sz="900">
                <a:solidFill>
                  <a:srgbClr val="1A1A1A"/>
                </a:solidFill>
              </a:rPr>
              <a:t>.</a:t>
            </a:r>
            <a:endParaRPr kumimoji="1" lang="ko-KR" altLang="en-US" sz="900" dirty="0">
              <a:solidFill>
                <a:srgbClr val="1A1A1A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6972002A-8103-4E22-34CB-CB4D8EE74D02}"/>
              </a:ext>
            </a:extLst>
          </p:cNvPr>
          <p:cNvSpPr/>
          <p:nvPr/>
        </p:nvSpPr>
        <p:spPr>
          <a:xfrm>
            <a:off x="731436" y="2463800"/>
            <a:ext cx="3073400" cy="1651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E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4314F1-3640-5194-0E63-3A7195AC4F78}"/>
              </a:ext>
            </a:extLst>
          </p:cNvPr>
          <p:cNvSpPr txBox="1"/>
          <p:nvPr/>
        </p:nvSpPr>
        <p:spPr>
          <a:xfrm>
            <a:off x="883836" y="2565400"/>
            <a:ext cx="1524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800">
                <a:solidFill>
                  <a:srgbClr val="0FA97F"/>
                </a:solidFill>
              </a:rPr>
              <a:t>실패 이체 상세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6920AE-9066-FE3F-339B-C6C3005D61D1}"/>
              </a:ext>
            </a:extLst>
          </p:cNvPr>
          <p:cNvSpPr/>
          <p:nvPr/>
        </p:nvSpPr>
        <p:spPr>
          <a:xfrm>
            <a:off x="883836" y="27940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AB31AD-3A70-A533-EC88-DEBE6328F9B7}"/>
              </a:ext>
            </a:extLst>
          </p:cNvPr>
          <p:cNvSpPr txBox="1"/>
          <p:nvPr/>
        </p:nvSpPr>
        <p:spPr>
          <a:xfrm>
            <a:off x="883836" y="2882900"/>
            <a:ext cx="889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850">
                <a:solidFill>
                  <a:srgbClr val="5A6B66"/>
                </a:solidFill>
              </a:rPr>
              <a:t>수취인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D6FFE9-A3BB-C888-E477-0731C59EE3AA}"/>
              </a:ext>
            </a:extLst>
          </p:cNvPr>
          <p:cNvSpPr txBox="1"/>
          <p:nvPr/>
        </p:nvSpPr>
        <p:spPr>
          <a:xfrm>
            <a:off x="1874436" y="2882900"/>
            <a:ext cx="1778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1A1A1A"/>
                </a:solidFill>
              </a:rPr>
              <a:t>박서연 </a:t>
            </a:r>
            <a:r>
              <a:rPr lang="en-US" altLang="ko-KR" sz="900" b="1">
                <a:solidFill>
                  <a:srgbClr val="1A1A1A"/>
                </a:solidFill>
              </a:rPr>
              <a:t>(</a:t>
            </a:r>
            <a:r>
              <a:rPr lang="ko-KR" altLang="en-US" sz="900" b="1">
                <a:solidFill>
                  <a:srgbClr val="1A1A1A"/>
                </a:solidFill>
              </a:rPr>
              <a:t>국민은행</a:t>
            </a:r>
            <a:r>
              <a:rPr lang="en-US" altLang="ko-KR" sz="900" b="1">
                <a:solidFill>
                  <a:srgbClr val="1A1A1A"/>
                </a:solidFill>
              </a:rPr>
              <a:t>)</a:t>
            </a:r>
            <a:endParaRPr lang="ko-KR" altLang="en-US" sz="900" b="1">
              <a:solidFill>
                <a:srgbClr val="1A1A1A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391F15-D053-4578-6C25-F54502825E3B}"/>
              </a:ext>
            </a:extLst>
          </p:cNvPr>
          <p:cNvSpPr/>
          <p:nvPr/>
        </p:nvSpPr>
        <p:spPr>
          <a:xfrm>
            <a:off x="883836" y="30988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D4C7A8-E208-2596-BC9A-6AE53757F06F}"/>
              </a:ext>
            </a:extLst>
          </p:cNvPr>
          <p:cNvSpPr txBox="1"/>
          <p:nvPr/>
        </p:nvSpPr>
        <p:spPr>
          <a:xfrm>
            <a:off x="883836" y="3187700"/>
            <a:ext cx="889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850">
                <a:solidFill>
                  <a:srgbClr val="5A6B66"/>
                </a:solidFill>
              </a:rPr>
              <a:t>시도일시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C995F4-B0F1-A09F-7140-A68B3156A2FD}"/>
              </a:ext>
            </a:extLst>
          </p:cNvPr>
          <p:cNvSpPr txBox="1"/>
          <p:nvPr/>
        </p:nvSpPr>
        <p:spPr>
          <a:xfrm>
            <a:off x="1874436" y="3187700"/>
            <a:ext cx="1778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1A1A1A"/>
                </a:solidFill>
              </a:rPr>
              <a:t>2026.08.02 11:03</a:t>
            </a:r>
            <a:endParaRPr lang="ko-KR" altLang="en-US" sz="900" b="1">
              <a:solidFill>
                <a:srgbClr val="1A1A1A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9C89F2D-D32E-9216-27BE-49C75B769D0E}"/>
              </a:ext>
            </a:extLst>
          </p:cNvPr>
          <p:cNvSpPr/>
          <p:nvPr/>
        </p:nvSpPr>
        <p:spPr>
          <a:xfrm>
            <a:off x="883836" y="34036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E9731B-9AB1-2FDB-B13C-E8E57ECB71C1}"/>
              </a:ext>
            </a:extLst>
          </p:cNvPr>
          <p:cNvSpPr txBox="1"/>
          <p:nvPr/>
        </p:nvSpPr>
        <p:spPr>
          <a:xfrm>
            <a:off x="883836" y="3492500"/>
            <a:ext cx="889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850">
                <a:solidFill>
                  <a:srgbClr val="5A6B66"/>
                </a:solidFill>
              </a:rPr>
              <a:t>요청금액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605FAE-CD4B-9699-9E76-D8FE06E8146F}"/>
              </a:ext>
            </a:extLst>
          </p:cNvPr>
          <p:cNvSpPr txBox="1"/>
          <p:nvPr/>
        </p:nvSpPr>
        <p:spPr>
          <a:xfrm>
            <a:off x="1874436" y="3492500"/>
            <a:ext cx="1778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1A1A1A"/>
                </a:solidFill>
              </a:rPr>
              <a:t>500,000</a:t>
            </a:r>
            <a:r>
              <a:rPr lang="ko-KR" altLang="en-US" sz="900" b="1">
                <a:solidFill>
                  <a:srgbClr val="1A1A1A"/>
                </a:solidFill>
              </a:rPr>
              <a:t>원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C43F65A-1ABA-6E62-9B56-40B1625EBBCD}"/>
              </a:ext>
            </a:extLst>
          </p:cNvPr>
          <p:cNvSpPr/>
          <p:nvPr/>
        </p:nvSpPr>
        <p:spPr>
          <a:xfrm>
            <a:off x="883836" y="3708400"/>
            <a:ext cx="2768600" cy="9525"/>
          </a:xfrm>
          <a:prstGeom prst="rect">
            <a:avLst/>
          </a:prstGeom>
          <a:solidFill>
            <a:srgbClr val="E9EF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A36CB2-6054-1785-5D14-9FFE3E99CAF8}"/>
              </a:ext>
            </a:extLst>
          </p:cNvPr>
          <p:cNvSpPr txBox="1"/>
          <p:nvPr/>
        </p:nvSpPr>
        <p:spPr>
          <a:xfrm>
            <a:off x="883836" y="3797300"/>
            <a:ext cx="889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850">
                <a:solidFill>
                  <a:srgbClr val="5A6B66"/>
                </a:solidFill>
              </a:rPr>
              <a:t>실패사유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BE6A6E-6AB7-BC4B-153E-A5019D92AED6}"/>
              </a:ext>
            </a:extLst>
          </p:cNvPr>
          <p:cNvSpPr txBox="1"/>
          <p:nvPr/>
        </p:nvSpPr>
        <p:spPr>
          <a:xfrm>
            <a:off x="1874436" y="3797300"/>
            <a:ext cx="1778000" cy="1651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1A1A1A"/>
                </a:solidFill>
              </a:rPr>
              <a:t>출금계좌 잔액 부족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BE56B42C-AB61-E21B-5E9C-0EA7F649F818}"/>
              </a:ext>
            </a:extLst>
          </p:cNvPr>
          <p:cNvSpPr/>
          <p:nvPr/>
        </p:nvSpPr>
        <p:spPr>
          <a:xfrm>
            <a:off x="1170494" y="4860852"/>
            <a:ext cx="8128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750" dirty="0">
                <a:solidFill>
                  <a:srgbClr val="0FA97F"/>
                </a:solidFill>
              </a:rPr>
              <a:t>다시 이체하기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ED85EEAC-5869-FD98-A85C-21DB099A7516}"/>
              </a:ext>
            </a:extLst>
          </p:cNvPr>
          <p:cNvSpPr/>
          <p:nvPr/>
        </p:nvSpPr>
        <p:spPr>
          <a:xfrm>
            <a:off x="2059494" y="4860852"/>
            <a:ext cx="8890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750">
                <a:solidFill>
                  <a:srgbClr val="0FA97F"/>
                </a:solidFill>
              </a:rPr>
              <a:t>계좌 잔액 확인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2B51DBCE-3F1D-DE1E-65F9-88CB8D329BF4}"/>
              </a:ext>
            </a:extLst>
          </p:cNvPr>
          <p:cNvSpPr/>
          <p:nvPr/>
        </p:nvSpPr>
        <p:spPr>
          <a:xfrm>
            <a:off x="3024694" y="4860852"/>
            <a:ext cx="431800" cy="25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FA9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750">
                <a:solidFill>
                  <a:srgbClr val="0FA97F"/>
                </a:solidFill>
              </a:rPr>
              <a:t>완료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34D71FD1-B499-C1DE-7861-AC0A79BD10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" t="27104" r="82676" b="66338"/>
          <a:stretch>
            <a:fillRect/>
          </a:stretch>
        </p:blipFill>
        <p:spPr>
          <a:xfrm>
            <a:off x="715614" y="4140080"/>
            <a:ext cx="449706" cy="449705"/>
          </a:xfrm>
          <a:prstGeom prst="rect">
            <a:avLst/>
          </a:prstGeom>
        </p:spPr>
      </p:pic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43C85BF5-B33A-E380-EF13-6D7B54E27EC1}"/>
              </a:ext>
            </a:extLst>
          </p:cNvPr>
          <p:cNvSpPr/>
          <p:nvPr/>
        </p:nvSpPr>
        <p:spPr>
          <a:xfrm>
            <a:off x="1163236" y="4212651"/>
            <a:ext cx="2641600" cy="591695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r>
              <a:rPr lang="ko-KR" altLang="en-US" sz="900" dirty="0" err="1">
                <a:solidFill>
                  <a:srgbClr val="1A1A1A"/>
                </a:solidFill>
              </a:rPr>
              <a:t>이번달</a:t>
            </a:r>
            <a:r>
              <a:rPr lang="ko-KR" altLang="en-US" sz="900" dirty="0">
                <a:solidFill>
                  <a:srgbClr val="1A1A1A"/>
                </a:solidFill>
              </a:rPr>
              <a:t> 실패한 이체는 총 </a:t>
            </a:r>
            <a:r>
              <a:rPr lang="en-US" altLang="ko-KR" sz="900" dirty="0">
                <a:solidFill>
                  <a:srgbClr val="1A1A1A"/>
                </a:solidFill>
              </a:rPr>
              <a:t>1</a:t>
            </a:r>
            <a:r>
              <a:rPr lang="ko-KR" altLang="en-US" sz="900" dirty="0">
                <a:solidFill>
                  <a:srgbClr val="1A1A1A"/>
                </a:solidFill>
              </a:rPr>
              <a:t>건입니다</a:t>
            </a:r>
            <a:r>
              <a:rPr lang="en-US" altLang="ko-KR" sz="900" dirty="0">
                <a:solidFill>
                  <a:srgbClr val="1A1A1A"/>
                </a:solidFill>
              </a:rPr>
              <a:t>. </a:t>
            </a:r>
            <a:r>
              <a:rPr lang="ko-KR" altLang="en-US" sz="900" dirty="0">
                <a:solidFill>
                  <a:srgbClr val="1A1A1A"/>
                </a:solidFill>
              </a:rPr>
              <a:t>이체를 </a:t>
            </a:r>
            <a:r>
              <a:rPr lang="ko-KR" altLang="en-US" sz="900" dirty="0" err="1">
                <a:solidFill>
                  <a:srgbClr val="1A1A1A"/>
                </a:solidFill>
              </a:rPr>
              <a:t>진행하시겠어요</a:t>
            </a:r>
            <a:r>
              <a:rPr lang="en-US" altLang="ko-KR" sz="900" dirty="0">
                <a:solidFill>
                  <a:srgbClr val="1A1A1A"/>
                </a:solidFill>
              </a:rPr>
              <a:t>?</a:t>
            </a:r>
            <a:endParaRPr lang="ko-KR" altLang="en-US" sz="900" dirty="0">
              <a:solidFill>
                <a:srgbClr val="1A1A1A"/>
              </a:solidFill>
            </a:endParaRPr>
          </a:p>
        </p:txBody>
      </p:sp>
      <p:sp>
        <p:nvSpPr>
          <p:cNvPr id="29" name="해 28">
            <a:extLst>
              <a:ext uri="{FF2B5EF4-FFF2-40B4-BE49-F238E27FC236}">
                <a16:creationId xmlns:a16="http://schemas.microsoft.com/office/drawing/2014/main" id="{47F18AE6-7CA2-BBE0-55FE-1F453A258C4B}"/>
              </a:ext>
            </a:extLst>
          </p:cNvPr>
          <p:cNvSpPr/>
          <p:nvPr/>
        </p:nvSpPr>
        <p:spPr>
          <a:xfrm>
            <a:off x="3652436" y="2336799"/>
            <a:ext cx="3294042" cy="2936859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2</a:t>
            </a:r>
            <a:r>
              <a:rPr kumimoji="1" lang="ko-KR" altLang="en-US" dirty="0"/>
              <a:t>건인 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경우에는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7593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79AAD29-7B2E-DE2B-043F-AB0DCDEBC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558" y="0"/>
            <a:ext cx="3168981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1CAEEAA-00D3-193F-68AD-2069C0AD4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881" y="0"/>
            <a:ext cx="3168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37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214692-ADD8-485E-C101-6F8B337A536A}"/>
              </a:ext>
            </a:extLst>
          </p:cNvPr>
          <p:cNvSpPr txBox="1"/>
          <p:nvPr/>
        </p:nvSpPr>
        <p:spPr>
          <a:xfrm>
            <a:off x="526473" y="762000"/>
            <a:ext cx="3869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아이디어 </a:t>
            </a:r>
            <a:r>
              <a:rPr kumimoji="1" lang="en-US" altLang="ko-KR" dirty="0"/>
              <a:t>1. </a:t>
            </a:r>
            <a:r>
              <a:rPr kumimoji="1" lang="ko-KR" altLang="en-US" dirty="0"/>
              <a:t>안녕하세요</a:t>
            </a:r>
            <a:r>
              <a:rPr kumimoji="1" lang="en-US" altLang="ko-KR" dirty="0"/>
              <a:t>. 00</a:t>
            </a:r>
            <a:r>
              <a:rPr kumimoji="1" lang="ko-KR" altLang="en-US" dirty="0"/>
              <a:t>님 가능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0475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F507-2D15-8CF6-CE8B-63EFE4391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9">
            <a:extLst>
              <a:ext uri="{FF2B5EF4-FFF2-40B4-BE49-F238E27FC236}">
                <a16:creationId xmlns:a16="http://schemas.microsoft.com/office/drawing/2014/main" id="{83AFD308-74DD-E4C3-198C-D637805CC854}"/>
              </a:ext>
            </a:extLst>
          </p:cNvPr>
          <p:cNvGrpSpPr/>
          <p:nvPr/>
        </p:nvGrpSpPr>
        <p:grpSpPr>
          <a:xfrm>
            <a:off x="755503" y="0"/>
            <a:ext cx="3563007" cy="6858000"/>
            <a:chOff x="2532993" y="0"/>
            <a:chExt cx="3563007" cy="6858000"/>
          </a:xfrm>
        </p:grpSpPr>
        <p:pic>
          <p:nvPicPr>
            <p:cNvPr id="32" name="그림 10">
              <a:extLst>
                <a:ext uri="{FF2B5EF4-FFF2-40B4-BE49-F238E27FC236}">
                  <a16:creationId xmlns:a16="http://schemas.microsoft.com/office/drawing/2014/main" id="{FF08FF27-C50F-7D10-C0A5-3747916AC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2993" y="0"/>
              <a:ext cx="3563007" cy="6858000"/>
            </a:xfrm>
            <a:prstGeom prst="rect">
              <a:avLst/>
            </a:prstGeom>
          </p:spPr>
        </p:pic>
        <p:sp>
          <p:nvSpPr>
            <p:cNvPr id="33" name="직사각형 11">
              <a:extLst>
                <a:ext uri="{FF2B5EF4-FFF2-40B4-BE49-F238E27FC236}">
                  <a16:creationId xmlns:a16="http://schemas.microsoft.com/office/drawing/2014/main" id="{107A712C-1E3A-AF30-7D1D-D4E5F6E869DB}"/>
                </a:ext>
              </a:extLst>
            </p:cNvPr>
            <p:cNvSpPr/>
            <p:nvPr/>
          </p:nvSpPr>
          <p:spPr>
            <a:xfrm>
              <a:off x="2677100" y="958468"/>
              <a:ext cx="3294042" cy="4831574"/>
            </a:xfrm>
            <a:prstGeom prst="rect">
              <a:avLst/>
            </a:prstGeom>
            <a:solidFill>
              <a:srgbClr val="EEF8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79050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EAE3A2B-47D5-7C49-A1B6-340B3060AD5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913656a-3399-4c60-85ec-b0856d1c148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1466</TotalTime>
  <Words>607</Words>
  <Application>Microsoft Macintosh PowerPoint</Application>
  <PresentationFormat>와이드스크린</PresentationFormat>
  <Paragraphs>154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희진 김</dc:creator>
  <cp:keywords/>
  <dc:description/>
  <cp:lastModifiedBy>희진 김</cp:lastModifiedBy>
  <cp:revision>2</cp:revision>
  <dcterms:created xsi:type="dcterms:W3CDTF">2026-08-06T06:59:26Z</dcterms:created>
  <dcterms:modified xsi:type="dcterms:W3CDTF">2026-08-07T07:25:59Z</dcterms:modified>
  <cp:category/>
</cp:coreProperties>
</file>